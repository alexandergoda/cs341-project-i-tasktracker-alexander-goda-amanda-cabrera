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0383691f35042a3" /><Relationship Type="http://schemas.openxmlformats.org/officeDocument/2006/relationships/extended-properties" Target="/docProps/app.xml" Id="R99c2b28632c74daf" /><Relationship Type="http://schemas.openxmlformats.org/officeDocument/2006/relationships/officeDocument" Target="/ppt/presentation.xml" Id="R9e403ce0881441e2" /></Relationships>
</file>

<file path=ppt/presentation.xml><?xml version="1.0" encoding="utf-8"?>
<p:presentation xmlns:p="http://schemas.openxmlformats.org/presentationml/2006/main">
  <p:sldMasterIdLst>
    <p:sldMasterId xmlns:r="http://schemas.openxmlformats.org/officeDocument/2006/relationships" id="2147483648" r:id="R4f9f65c628684b1e"/>
  </p:sldMasterIdLst>
  <p:notesMasterIdLst>
    <p:notesMasterId xmlns:r="http://schemas.openxmlformats.org/officeDocument/2006/relationships" r:id="R0a6691a52eea41b9"/>
  </p:notesMasterIdLst>
  <p:sldIdLst>
    <p:sldId xmlns:r="http://schemas.openxmlformats.org/officeDocument/2006/relationships" id="256" r:id="R417ff0b292ee4eff"/>
    <p:sldId xmlns:r="http://schemas.openxmlformats.org/officeDocument/2006/relationships" id="257" r:id="Rfb0d38ce9ed3430d"/>
    <p:sldId xmlns:r="http://schemas.openxmlformats.org/officeDocument/2006/relationships" id="258" r:id="R36b44a8790f54621"/>
    <p:sldId xmlns:r="http://schemas.openxmlformats.org/officeDocument/2006/relationships" id="259" r:id="R9018662c740f46bb"/>
    <p:sldId xmlns:r="http://schemas.openxmlformats.org/officeDocument/2006/relationships" id="260" r:id="Raac3de7514b14984"/>
    <p:sldId xmlns:r="http://schemas.openxmlformats.org/officeDocument/2006/relationships" id="261" r:id="R8464e036ae424ea9"/>
    <p:sldId xmlns:r="http://schemas.openxmlformats.org/officeDocument/2006/relationships" id="262" r:id="R8fde0f3475e24354"/>
    <p:sldId xmlns:r="http://schemas.openxmlformats.org/officeDocument/2006/relationships" id="263" r:id="Rb289a0e28e42495c"/>
    <p:sldId xmlns:r="http://schemas.openxmlformats.org/officeDocument/2006/relationships" id="264" r:id="R9d87eb8326654347"/>
    <p:sldId xmlns:r="http://schemas.openxmlformats.org/officeDocument/2006/relationships" id="265" r:id="R1d39de19be81407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1834db3076497f" /><Relationship Type="http://schemas.openxmlformats.org/officeDocument/2006/relationships/slideMaster" Target="/ppt/slideMasters/slideMaster1.xml" Id="R4f9f65c628684b1e" /><Relationship Type="http://schemas.openxmlformats.org/officeDocument/2006/relationships/notesMaster" Target="/ppt/notesMasters/notesMaster1.xml" Id="R0a6691a52eea41b9" /><Relationship Type="http://schemas.openxmlformats.org/officeDocument/2006/relationships/presProps" Target="/ppt/presProps.xml" Id="R57c49dd45a584a27" /><Relationship Type="http://schemas.openxmlformats.org/officeDocument/2006/relationships/tableStyles" Target="/ppt/tableStyles.xml" Id="R6c9f52b172b349b4" /><Relationship Type="http://schemas.openxmlformats.org/officeDocument/2006/relationships/slide" Target="/ppt/slides/slide1.xml" Id="R417ff0b292ee4eff" /><Relationship Type="http://schemas.openxmlformats.org/officeDocument/2006/relationships/slide" Target="/ppt/slides/slide2.xml" Id="Rfb0d38ce9ed3430d" /><Relationship Type="http://schemas.openxmlformats.org/officeDocument/2006/relationships/slide" Target="/ppt/slides/slide3.xml" Id="R36b44a8790f54621" /><Relationship Type="http://schemas.openxmlformats.org/officeDocument/2006/relationships/slide" Target="/ppt/slides/slide4.xml" Id="R9018662c740f46bb" /><Relationship Type="http://schemas.openxmlformats.org/officeDocument/2006/relationships/slide" Target="/ppt/slides/slide5.xml" Id="Raac3de7514b14984" /><Relationship Type="http://schemas.openxmlformats.org/officeDocument/2006/relationships/slide" Target="/ppt/slides/slide6.xml" Id="R8464e036ae424ea9" /><Relationship Type="http://schemas.openxmlformats.org/officeDocument/2006/relationships/slide" Target="/ppt/slides/slide7.xml" Id="R8fde0f3475e24354" /><Relationship Type="http://schemas.openxmlformats.org/officeDocument/2006/relationships/slide" Target="/ppt/slides/slide8.xml" Id="Rb289a0e28e42495c" /><Relationship Type="http://schemas.openxmlformats.org/officeDocument/2006/relationships/slide" Target="/ppt/slides/slide9.xml" Id="R9d87eb8326654347" /><Relationship Type="http://schemas.openxmlformats.org/officeDocument/2006/relationships/slide" Target="/ppt/slides/slide10.xml" Id="R1d39de19be81407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f0c8964a9264ec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88adbcd16f04807" /><Relationship Type="http://schemas.openxmlformats.org/officeDocument/2006/relationships/notesMaster" Target="/ppt/notesMasters/notesMaster1.xml" Id="R058ee6dd5b3740f2" /></Relationships>
</file>

<file path=ppt/notesSlides/_rels/notesSlide2.xml.rels>&#65279;<?xml version="1.0" encoding="utf-8"?><Relationships xmlns="http://schemas.openxmlformats.org/package/2006/relationships"><Relationship Type="http://schemas.openxmlformats.org/officeDocument/2006/relationships/slide" Target="/ppt/slides/slide2.xml" Id="R487cb8dffc04415b" /><Relationship Type="http://schemas.openxmlformats.org/officeDocument/2006/relationships/notesMaster" Target="/ppt/notesMasters/notesMaster1.xml" Id="R89a74b8ca5e54fa4" /></Relationships>
</file>

<file path=ppt/notesSlides/_rels/notesSlide3.xml.rels>&#65279;<?xml version="1.0" encoding="utf-8"?><Relationships xmlns="http://schemas.openxmlformats.org/package/2006/relationships"><Relationship Type="http://schemas.openxmlformats.org/officeDocument/2006/relationships/slide" Target="/ppt/slides/slide3.xml" Id="Rd2e9033636d34b7d" /><Relationship Type="http://schemas.openxmlformats.org/officeDocument/2006/relationships/notesMaster" Target="/ppt/notesMasters/notesMaster1.xml" Id="R5dc217beb1814b6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b240776ec224bf8" /><Relationship Type="http://schemas.openxmlformats.org/officeDocument/2006/relationships/notesMaster" Target="/ppt/notesMasters/notesMaster1.xml" Id="Rb76053ba8f994ada" /></Relationships>
</file>

<file path=ppt/notesSlides/_rels/notesSlide5.xml.rels>&#65279;<?xml version="1.0" encoding="utf-8"?><Relationships xmlns="http://schemas.openxmlformats.org/package/2006/relationships"><Relationship Type="http://schemas.openxmlformats.org/officeDocument/2006/relationships/slide" Target="/ppt/slides/slide5.xml" Id="R384f8dc65084493a" /><Relationship Type="http://schemas.openxmlformats.org/officeDocument/2006/relationships/notesMaster" Target="/ppt/notesMasters/notesMaster1.xml" Id="R1ee42ac871a9481f" /></Relationships>
</file>

<file path=ppt/notesSlides/_rels/notesSlide6.xml.rels>&#65279;<?xml version="1.0" encoding="utf-8"?><Relationships xmlns="http://schemas.openxmlformats.org/package/2006/relationships"><Relationship Type="http://schemas.openxmlformats.org/officeDocument/2006/relationships/slide" Target="/ppt/slides/slide6.xml" Id="Rab258a2ccbc5481e" /><Relationship Type="http://schemas.openxmlformats.org/officeDocument/2006/relationships/notesMaster" Target="/ppt/notesMasters/notesMaster1.xml" Id="R8540968a9c1f4112" /></Relationships>
</file>

<file path=ppt/notesSlides/_rels/notesSlide7.xml.rels>&#65279;<?xml version="1.0" encoding="utf-8"?><Relationships xmlns="http://schemas.openxmlformats.org/package/2006/relationships"><Relationship Type="http://schemas.openxmlformats.org/officeDocument/2006/relationships/slide" Target="/ppt/slides/slide7.xml" Id="Rae88dff613654fa6" /><Relationship Type="http://schemas.openxmlformats.org/officeDocument/2006/relationships/notesMaster" Target="/ppt/notesMasters/notesMaster1.xml" Id="R89befb380cff458d"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1ef6e539c34f3d" /><Relationship Type="http://schemas.openxmlformats.org/officeDocument/2006/relationships/notesMaster" Target="/ppt/notesMasters/notesMaster1.xml" Id="R75d556c83db34d34" /></Relationships>
</file>

<file path=ppt/notesSlides/_rels/notesSlide9.xml.rels>&#65279;<?xml version="1.0" encoding="utf-8"?><Relationships xmlns="http://schemas.openxmlformats.org/package/2006/relationships"><Relationship Type="http://schemas.openxmlformats.org/officeDocument/2006/relationships/slide" Target="/ppt/slides/slide9.xml" Id="R0b5e66e30ca84571" /><Relationship Type="http://schemas.openxmlformats.org/officeDocument/2006/relationships/notesMaster" Target="/ppt/notesMasters/notesMaster1.xml" Id="Ra29e4082c81f430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6ce6f17a9c64693" /><Relationship Type="http://schemas.openxmlformats.org/officeDocument/2006/relationships/notesMaster" Target="/ppt/notesMasters/notesMaster1.xml" Id="R611e42aa861348a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local desktop task manager. Both presenters should participate. Proposed timing for the deck and demo is 8–10 minutes, subject to the instructor’s actual time limit. Sources: project README and Requirements Analysis. This deck is prepared for team review and rehearsal.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collaboration occurs through accounts sharing one local SQLite file. No cloud synchronization is included. Source: docs/Requirements/CS341_Project_I_Requirements_Analysis_Alexander_Goda_Amanda_Cabrera.docx, UR-01 through UR-12.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one create-task request: TaskEditorView sends input to TaskController, which checks the current user, constructs Task, and calls TaskDAO. DatabaseManager supplies a JDBC connection. The callback refreshes the dashboard. Main starts Swing with EventQueue.invokeLater. SQL stays out of the views. Source: docs/Design/CS341_Project_I_MVC_Architecture_Alexander_Goda_Amanda_Cabrera.png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users and tasks. creator_id is required, assignee_id and due_date are optional. Each connection enables foreign keys. DatabaseManager executes embedded CREATE TABLE IF NOT EXISTS statements. tasks.db resolves relative to the working directory. sql/schema.sql is a matching reference. Source: docs/Design/CS341_Project_I_Database_Schema_Alexander_Goda_Amanda_Cabrera.png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Amanda can explain TaskController and why authorization is checked before persistence changes. Self-assignment is valid and the relevant-task query returns the task once. Source: src/tasktracker/controller/TaskController.java and test/tester/TaskControllerTest.java.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Fresh expanded suite: DatabaseManagerTest 2, UserDAOTest 5, TaskDAOTest 6, AuthControllerTest 6, TaskControllerTest 9. Problems tab displayed 0 items in its current configuration. Tests use temporary SQLite databases and include integration behavior. The earlier manual M01–M10 checks are historical evidence. Fresh manual GUI repetition could not be completed because automation could not bind to the Java window. Do not present 28 tests as GUI automation. Sources: docs/FINAL_AUDIT.md and testing report addendum.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showTaskEditor, windowClosed removal, and the snapshot used during dispose. Logout disposes windows before clearing the authenticated session and opening the next login screen. The new logged-out controller test supports the session boundary but does not automate editor cleanup. Source: TaskDashboardView.java and testing report M10.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docs/DEMO_SCRIPT.md for the complete sequence, unique demo accounts, validation cases, delete confirmation, cleanup, and fallback. Rehearse first. Proposed split: Alexander operates the first half and Amanda explains permissions and operates the assignee flow. This is a proposed division, not a record of completed rehearsal.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Amanda’s commit identity was verified in local Git and Safari on GitHub. GitHub Insights showed only Alexander during inspection and is not used as proof of absence or as a complete contribution measure. Do not claim equal commit counts. Confirm non-code contribution details with both team members. Sources: git log and https://github.com/alexandergoda/CS341-Project-I-TaskTracker-Alexander-Goda-Amanda-Cabrera/commit/63d8ae6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scope honest: this is a local teaching project with unsalted SHA-256 credential hashing, fixed Swing layouts, and synchronous JDBC on GUI actions. No claim of exhaustive test coverage or a guaranteed rubric score. No Canvas upload has occurred. Source: docs/FINAL_SUBMISSION_CHECKLIST.md.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41535ee7e2469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d2df4f92c214e4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cbf908795e1440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7e20c8ad4844ff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32f842f4303432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14c2278d63744b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996EAF-F356-4B52-9BA5-71C9AA1E0CC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30664A8-3418-4009-870E-643A64A5D98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C7209B-BD99-43D6-A061-DDF2144748E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767DC87-DD0A-4CD7-A06D-D14D86C4081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FE1F2C0-542F-4F22-982A-D11B9DF6CF8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0F8C267-BFDC-45FE-92DD-A2E169BC482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5C6BA0-4A69-41B4-AC96-721CD05A0C5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AC5B089-5AE0-4369-8345-6011F7F9CE3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87AD8D2-D6D6-40DC-B40F-4C9EC190371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B36C795-088E-4482-9306-901DAF373C7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b8a60a85a244740" /><Relationship Type="http://schemas.openxmlformats.org/officeDocument/2006/relationships/slideLayout" Target="/ppt/slideLayouts/slideLayout1.xml" Id="Rca77a1c050c34477" /><Relationship Type="http://schemas.openxmlformats.org/officeDocument/2006/relationships/slideLayout" Target="/ppt/slideLayouts/slideLayout2.xml" Id="R34f43c2b1fd44d6a" /><Relationship Type="http://schemas.openxmlformats.org/officeDocument/2006/relationships/slideLayout" Target="/ppt/slideLayouts/slideLayout3.xml" Id="R996001e06a67490e" /><Relationship Type="http://schemas.openxmlformats.org/officeDocument/2006/relationships/slideLayout" Target="/ppt/slideLayouts/slideLayout4.xml" Id="R11cfe694be7d4235" /><Relationship Type="http://schemas.openxmlformats.org/officeDocument/2006/relationships/slideLayout" Target="/ppt/slideLayouts/slideLayout5.xml" Id="Ree7b2baf40a84c9e" /><Relationship Type="http://schemas.openxmlformats.org/officeDocument/2006/relationships/slideLayout" Target="/ppt/slideLayouts/slideLayout6.xml" Id="Rea47d3a8ef2c4dc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77a1c050c34477"/>
    <p:sldLayoutId xmlns:r="http://schemas.openxmlformats.org/officeDocument/2006/relationships" id="2147483650" r:id="R34f43c2b1fd44d6a"/>
    <p:sldLayoutId xmlns:r="http://schemas.openxmlformats.org/officeDocument/2006/relationships" id="2147483651" r:id="R996001e06a67490e"/>
    <p:sldLayoutId xmlns:r="http://schemas.openxmlformats.org/officeDocument/2006/relationships" id="2147483652" r:id="R11cfe694be7d4235"/>
    <p:sldLayoutId xmlns:r="http://schemas.openxmlformats.org/officeDocument/2006/relationships" id="2147483653" r:id="Ree7b2baf40a84c9e"/>
    <p:sldLayoutId xmlns:r="http://schemas.openxmlformats.org/officeDocument/2006/relationships" id="2147483654" r:id="Rea47d3a8ef2c4dc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4b2b9ad5b2e4dc6" /><Relationship Type="http://schemas.openxmlformats.org/officeDocument/2006/relationships/notesSlide" Target="/ppt/notesSlides/notesSlide1.xml" Id="R645a35c31993425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cfa9785aa046df" /><Relationship Type="http://schemas.openxmlformats.org/officeDocument/2006/relationships/notesSlide" Target="/ppt/notesSlides/notesSlide2.xml" Id="R25fe471ebe0b48a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9ebb4ab2d9e45ca" /><Relationship Type="http://schemas.openxmlformats.org/officeDocument/2006/relationships/image" Target="/ppt/media/image.png" Id="R140fe1d62fe64ec7" /><Relationship Type="http://schemas.openxmlformats.org/officeDocument/2006/relationships/notesSlide" Target="/ppt/notesSlides/notesSlide3.xml" Id="Rcdd98bc0c84d47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14f18573acf4885" /><Relationship Type="http://schemas.openxmlformats.org/officeDocument/2006/relationships/image" Target="/ppt/media/image2.png" Id="R86988d9804ee45a2" /><Relationship Type="http://schemas.openxmlformats.org/officeDocument/2006/relationships/notesSlide" Target="/ppt/notesSlides/notesSlide4.xml" Id="Re6bc13df96ab40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94a916e461e4b83" /><Relationship Type="http://schemas.openxmlformats.org/officeDocument/2006/relationships/notesSlide" Target="/ppt/notesSlides/notesSlide5.xml" Id="R07a1a6f5fdf74d6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555620f274746c7" /><Relationship Type="http://schemas.openxmlformats.org/officeDocument/2006/relationships/notesSlide" Target="/ppt/notesSlides/notesSlide6.xml" Id="R0cc50c8a1f8d45c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2f8724ea49144e9" /><Relationship Type="http://schemas.openxmlformats.org/officeDocument/2006/relationships/notesSlide" Target="/ppt/notesSlides/notesSlide7.xml" Id="Rbd173f508666486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1d4fe54471a4fab" /><Relationship Type="http://schemas.openxmlformats.org/officeDocument/2006/relationships/notesSlide" Target="/ppt/notesSlides/notesSlide8.xml" Id="Rc038cd2b693945d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e640d42003443d7" /><Relationship Type="http://schemas.openxmlformats.org/officeDocument/2006/relationships/notesSlide" Target="/ppt/notesSlides/notesSlide9.xml" Id="Rfac4a796d83842c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58984ed8f6644f8" /><Relationship Type="http://schemas.openxmlformats.org/officeDocument/2006/relationships/notesSlide" Target="/ppt/notesSlides/notesSlide10.xml" Id="R91ec75d60a5d474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74A3558-F5AC-48D9-8C77-8CDE334A34F4}"/>
              </a:ext>
            </a:extLst>
          </p:cNvPr>
          <p:cNvSpPr>
            <a:spLocks xmlns:a="http://schemas.openxmlformats.org/drawingml/2006/main" noGrp="1"/>
          </p:cNvSpPr>
          <p:nvPr/>
        </p:nvSpPr>
        <p:spPr>
          <a:xfrm xmlns:a="http://schemas.openxmlformats.org/drawingml/2006/main">
            <a:off x="685800" y="142875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182431"/>
                </a:solidFill>
                <a:latin typeface="Arial"/>
                <a:ea typeface="Arial"/>
                <a:cs typeface="Arial"/>
              </a:defRPr>
            </a:defPPr>
            <a:lvl1pPr>
              <a:defRPr sz="4800" b="1">
                <a:solidFill>
                  <a:srgbClr val="182431"/>
                </a:solidFill>
                <a:latin typeface="Arial"/>
                <a:ea typeface="Arial"/>
                <a:cs typeface="Arial"/>
              </a:defRPr>
            </a:lvl1pPr>
            <a:lvl2pPr>
              <a:defRPr sz="4800" b="1">
                <a:solidFill>
                  <a:srgbClr val="182431"/>
                </a:solidFill>
                <a:latin typeface="Arial"/>
                <a:ea typeface="Arial"/>
                <a:cs typeface="Arial"/>
              </a:defRPr>
            </a:lvl2pPr>
            <a:lvl3pPr>
              <a:defRPr sz="4800" b="1">
                <a:solidFill>
                  <a:srgbClr val="182431"/>
                </a:solidFill>
                <a:latin typeface="Arial"/>
                <a:ea typeface="Arial"/>
                <a:cs typeface="Arial"/>
              </a:defRPr>
            </a:lvl3pPr>
            <a:lvl4pPr>
              <a:defRPr sz="4800" b="1">
                <a:solidFill>
                  <a:srgbClr val="182431"/>
                </a:solidFill>
                <a:latin typeface="Arial"/>
                <a:ea typeface="Arial"/>
                <a:cs typeface="Arial"/>
              </a:defRPr>
            </a:lvl4pPr>
            <a:lvl5pPr>
              <a:defRPr sz="4800" b="1">
                <a:solidFill>
                  <a:srgbClr val="182431"/>
                </a:solidFill>
                <a:latin typeface="Arial"/>
                <a:ea typeface="Arial"/>
                <a:cs typeface="Arial"/>
              </a:defRPr>
            </a:lvl5pPr>
            <a:lvl6pPr>
              <a:defRPr sz="4800" b="1">
                <a:solidFill>
                  <a:srgbClr val="182431"/>
                </a:solidFill>
                <a:latin typeface="Arial"/>
                <a:ea typeface="Arial"/>
                <a:cs typeface="Arial"/>
              </a:defRPr>
            </a:lvl6pPr>
            <a:lvl7pPr>
              <a:defRPr sz="4800" b="1">
                <a:solidFill>
                  <a:srgbClr val="182431"/>
                </a:solidFill>
                <a:latin typeface="Arial"/>
                <a:ea typeface="Arial"/>
                <a:cs typeface="Arial"/>
              </a:defRPr>
            </a:lvl7pPr>
            <a:lvl8pPr>
              <a:defRPr sz="4800" b="1">
                <a:solidFill>
                  <a:srgbClr val="182431"/>
                </a:solidFill>
                <a:latin typeface="Arial"/>
                <a:ea typeface="Arial"/>
                <a:cs typeface="Arial"/>
              </a:defRPr>
            </a:lvl8pPr>
            <a:lvl9pPr>
              <a:defRPr sz="4800" b="1">
                <a:solidFill>
                  <a:srgbClr val="182431"/>
                </a:solidFill>
                <a:latin typeface="Arial"/>
                <a:ea typeface="Arial"/>
                <a:cs typeface="Arial"/>
              </a:defRPr>
            </a:lvl9pPr>
          </a:lstStyle>
          <a:p xmlns:a="http://schemas.openxmlformats.org/drawingml/2006/main">
            <a:pPr>
              <a:defRPr sz="4800" b="1">
                <a:solidFill>
                  <a:srgbClr val="182431"/>
                </a:solidFill>
                <a:latin typeface="Arial"/>
                <a:ea typeface="Arial"/>
                <a:cs typeface="Arial"/>
              </a:defRPr>
            </a:pPr>
            <a:r>
              <a:rPr sz="4800" b="1">
                <a:solidFill>
                  <a:srgbClr val="182431"/>
                </a:solidFill>
                <a:latin typeface="Arial"/>
                <a:ea typeface="Arial"/>
                <a:cs typeface="Arial"/>
              </a:rPr>
              <a:t>Task Tracker</a:t>
            </a:r>
          </a:p>
        </p:txBody>
      </p:sp>
      <p:sp>
        <p:nvSpPr>
          <p:cNvPr id="2" name="">
            <a:extLst xmlns:a="http://schemas.openxmlformats.org/drawingml/2006/main">
              <a:ext uri="{FF2B5EF4-FFF2-40B4-BE49-F238E27FC236}">
                <a16:creationId xmlns:a16="http://schemas.microsoft.com/office/drawing/2014/main" id="{B2F35B28-663A-4E6A-9B3C-066FBD1958A0}"/>
              </a:ext>
            </a:extLst>
          </p:cNvPr>
          <p:cNvSpPr>
            <a:spLocks xmlns:a="http://schemas.openxmlformats.org/drawingml/2006/main" noGrp="1"/>
          </p:cNvSpPr>
          <p:nvPr/>
        </p:nvSpPr>
        <p:spPr>
          <a:xfrm xmlns:a="http://schemas.openxmlformats.org/drawingml/2006/main">
            <a:off x="685800" y="257175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82431"/>
                </a:solidFill>
                <a:latin typeface="Arial"/>
                <a:ea typeface="Arial"/>
                <a:cs typeface="Arial"/>
              </a:defRPr>
            </a:defPPr>
            <a:lvl1pPr>
              <a:defRPr sz="2550" b="0">
                <a:solidFill>
                  <a:srgbClr val="182431"/>
                </a:solidFill>
                <a:latin typeface="Arial"/>
                <a:ea typeface="Arial"/>
                <a:cs typeface="Arial"/>
              </a:defRPr>
            </a:lvl1pPr>
            <a:lvl2pPr>
              <a:defRPr sz="2550" b="0">
                <a:solidFill>
                  <a:srgbClr val="182431"/>
                </a:solidFill>
                <a:latin typeface="Arial"/>
                <a:ea typeface="Arial"/>
                <a:cs typeface="Arial"/>
              </a:defRPr>
            </a:lvl2pPr>
            <a:lvl3pPr>
              <a:defRPr sz="2550" b="0">
                <a:solidFill>
                  <a:srgbClr val="182431"/>
                </a:solidFill>
                <a:latin typeface="Arial"/>
                <a:ea typeface="Arial"/>
                <a:cs typeface="Arial"/>
              </a:defRPr>
            </a:lvl3pPr>
            <a:lvl4pPr>
              <a:defRPr sz="2550" b="0">
                <a:solidFill>
                  <a:srgbClr val="182431"/>
                </a:solidFill>
                <a:latin typeface="Arial"/>
                <a:ea typeface="Arial"/>
                <a:cs typeface="Arial"/>
              </a:defRPr>
            </a:lvl4pPr>
            <a:lvl5pPr>
              <a:defRPr sz="2550" b="0">
                <a:solidFill>
                  <a:srgbClr val="182431"/>
                </a:solidFill>
                <a:latin typeface="Arial"/>
                <a:ea typeface="Arial"/>
                <a:cs typeface="Arial"/>
              </a:defRPr>
            </a:lvl5pPr>
            <a:lvl6pPr>
              <a:defRPr sz="2550" b="0">
                <a:solidFill>
                  <a:srgbClr val="182431"/>
                </a:solidFill>
                <a:latin typeface="Arial"/>
                <a:ea typeface="Arial"/>
                <a:cs typeface="Arial"/>
              </a:defRPr>
            </a:lvl6pPr>
            <a:lvl7pPr>
              <a:defRPr sz="2550" b="0">
                <a:solidFill>
                  <a:srgbClr val="182431"/>
                </a:solidFill>
                <a:latin typeface="Arial"/>
                <a:ea typeface="Arial"/>
                <a:cs typeface="Arial"/>
              </a:defRPr>
            </a:lvl7pPr>
            <a:lvl8pPr>
              <a:defRPr sz="2550" b="0">
                <a:solidFill>
                  <a:srgbClr val="182431"/>
                </a:solidFill>
                <a:latin typeface="Arial"/>
                <a:ea typeface="Arial"/>
                <a:cs typeface="Arial"/>
              </a:defRPr>
            </a:lvl8pPr>
            <a:lvl9pPr>
              <a:defRPr sz="2550" b="0">
                <a:solidFill>
                  <a:srgbClr val="182431"/>
                </a:solidFill>
                <a:latin typeface="Arial"/>
                <a:ea typeface="Arial"/>
                <a:cs typeface="Arial"/>
              </a:defRPr>
            </a:lvl9pPr>
          </a:lstStyle>
          <a:p xmlns:a="http://schemas.openxmlformats.org/drawingml/2006/main">
            <a:pPr>
              <a:defRPr sz="2550" b="0">
                <a:solidFill>
                  <a:srgbClr val="182431"/>
                </a:solidFill>
                <a:latin typeface="Arial"/>
                <a:ea typeface="Arial"/>
                <a:cs typeface="Arial"/>
              </a:defRPr>
            </a:pPr>
            <a:r>
              <a:rPr sz="2550" b="0">
                <a:solidFill>
                  <a:srgbClr val="182431"/>
                </a:solidFill>
                <a:latin typeface="Arial"/>
                <a:ea typeface="Arial"/>
                <a:cs typeface="Arial"/>
              </a:rPr>
              <a:t>CS341 Project I</a:t>
            </a:r>
          </a:p>
        </p:txBody>
      </p:sp>
      <p:sp>
        <p:nvSpPr>
          <p:cNvPr id="3" name="">
            <a:extLst xmlns:a="http://schemas.openxmlformats.org/drawingml/2006/main">
              <a:ext uri="{FF2B5EF4-FFF2-40B4-BE49-F238E27FC236}">
                <a16:creationId xmlns:a16="http://schemas.microsoft.com/office/drawing/2014/main" id="{3A44BE96-53A8-4895-9CFF-8A651E28E2DA}"/>
              </a:ext>
            </a:extLst>
          </p:cNvPr>
          <p:cNvSpPr>
            <a:spLocks xmlns:a="http://schemas.openxmlformats.org/drawingml/2006/main" noGrp="1"/>
          </p:cNvSpPr>
          <p:nvPr/>
        </p:nvSpPr>
        <p:spPr>
          <a:xfrm xmlns:a="http://schemas.openxmlformats.org/drawingml/2006/main">
            <a:off x="685800" y="3762375"/>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Alexander Goda and Amanda Cabrera</a:t>
            </a:r>
          </a:p>
        </p:txBody>
      </p:sp>
      <p:sp>
        <p:nvSpPr>
          <p:cNvPr id="4" name="">
            <a:extLst xmlns:a="http://schemas.openxmlformats.org/drawingml/2006/main">
              <a:ext uri="{FF2B5EF4-FFF2-40B4-BE49-F238E27FC236}">
                <a16:creationId xmlns:a16="http://schemas.microsoft.com/office/drawing/2014/main" id="{D55D2CC1-E0B2-47DF-A360-ADF8E6DCB080}"/>
              </a:ext>
            </a:extLst>
          </p:cNvPr>
          <p:cNvSpPr>
            <a:spLocks xmlns:a="http://schemas.openxmlformats.org/drawingml/2006/main" noGrp="1"/>
          </p:cNvSpPr>
          <p:nvPr/>
        </p:nvSpPr>
        <p:spPr>
          <a:xfrm xmlns:a="http://schemas.openxmlformats.org/drawingml/2006/main">
            <a:off x="685800" y="4429125"/>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2431"/>
                </a:solidFill>
                <a:latin typeface="Arial"/>
                <a:ea typeface="Arial"/>
                <a:cs typeface="Arial"/>
              </a:defRPr>
            </a:defPPr>
            <a:lvl1pPr>
              <a:defRPr sz="2025" b="0">
                <a:solidFill>
                  <a:srgbClr val="182431"/>
                </a:solidFill>
                <a:latin typeface="Arial"/>
                <a:ea typeface="Arial"/>
                <a:cs typeface="Arial"/>
              </a:defRPr>
            </a:lvl1pPr>
            <a:lvl2pPr>
              <a:defRPr sz="2025" b="0">
                <a:solidFill>
                  <a:srgbClr val="182431"/>
                </a:solidFill>
                <a:latin typeface="Arial"/>
                <a:ea typeface="Arial"/>
                <a:cs typeface="Arial"/>
              </a:defRPr>
            </a:lvl2pPr>
            <a:lvl3pPr>
              <a:defRPr sz="2025" b="0">
                <a:solidFill>
                  <a:srgbClr val="182431"/>
                </a:solidFill>
                <a:latin typeface="Arial"/>
                <a:ea typeface="Arial"/>
                <a:cs typeface="Arial"/>
              </a:defRPr>
            </a:lvl3pPr>
            <a:lvl4pPr>
              <a:defRPr sz="2025" b="0">
                <a:solidFill>
                  <a:srgbClr val="182431"/>
                </a:solidFill>
                <a:latin typeface="Arial"/>
                <a:ea typeface="Arial"/>
                <a:cs typeface="Arial"/>
              </a:defRPr>
            </a:lvl4pPr>
            <a:lvl5pPr>
              <a:defRPr sz="2025" b="0">
                <a:solidFill>
                  <a:srgbClr val="182431"/>
                </a:solidFill>
                <a:latin typeface="Arial"/>
                <a:ea typeface="Arial"/>
                <a:cs typeface="Arial"/>
              </a:defRPr>
            </a:lvl5pPr>
            <a:lvl6pPr>
              <a:defRPr sz="2025" b="0">
                <a:solidFill>
                  <a:srgbClr val="182431"/>
                </a:solidFill>
                <a:latin typeface="Arial"/>
                <a:ea typeface="Arial"/>
                <a:cs typeface="Arial"/>
              </a:defRPr>
            </a:lvl6pPr>
            <a:lvl7pPr>
              <a:defRPr sz="2025" b="0">
                <a:solidFill>
                  <a:srgbClr val="182431"/>
                </a:solidFill>
                <a:latin typeface="Arial"/>
                <a:ea typeface="Arial"/>
                <a:cs typeface="Arial"/>
              </a:defRPr>
            </a:lvl7pPr>
            <a:lvl8pPr>
              <a:defRPr sz="2025" b="0">
                <a:solidFill>
                  <a:srgbClr val="182431"/>
                </a:solidFill>
                <a:latin typeface="Arial"/>
                <a:ea typeface="Arial"/>
                <a:cs typeface="Arial"/>
              </a:defRPr>
            </a:lvl8pPr>
            <a:lvl9pPr>
              <a:defRPr sz="2025" b="0">
                <a:solidFill>
                  <a:srgbClr val="182431"/>
                </a:solidFill>
                <a:latin typeface="Arial"/>
                <a:ea typeface="Arial"/>
                <a:cs typeface="Arial"/>
              </a:defRPr>
            </a:lvl9pPr>
          </a:lstStyle>
          <a:p xmlns:a="http://schemas.openxmlformats.org/drawingml/2006/main">
            <a:pPr>
              <a:defRPr sz="2025" b="0">
                <a:solidFill>
                  <a:srgbClr val="182431"/>
                </a:solidFill>
                <a:latin typeface="Arial"/>
                <a:ea typeface="Arial"/>
                <a:cs typeface="Arial"/>
              </a:defRPr>
            </a:pPr>
            <a:r>
              <a:rPr sz="2025" b="0">
                <a:solidFill>
                  <a:srgbClr val="182431"/>
                </a:solidFill>
                <a:latin typeface="Arial"/>
                <a:ea typeface="Arial"/>
                <a:cs typeface="Arial"/>
              </a:rPr>
              <a:t>Professor Trish Cornez</a:t>
            </a:r>
          </a:p>
        </p:txBody>
      </p:sp>
    </p:spTree>
    <p:extLst>
      <p:ext uri="{BB962C8B-B14F-4D97-AF65-F5344CB8AC3E}">
        <p14:creationId xmlns:p14="http://schemas.microsoft.com/office/powerpoint/2010/main" val="20576624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9412369-8133-4534-9E4A-5E10D8B1056D}"/>
              </a:ext>
            </a:extLst>
          </p:cNvPr>
          <p:cNvSpPr>
            <a:spLocks xmlns:a="http://schemas.openxmlformats.org/drawingml/2006/main" noGrp="1"/>
          </p:cNvSpPr>
          <p:nvPr/>
        </p:nvSpPr>
        <p:spPr>
          <a:xfrm xmlns:a="http://schemas.openxmlformats.org/drawingml/2006/main">
            <a:off x="609600" y="4191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2431"/>
                </a:solidFill>
                <a:latin typeface="Arial"/>
                <a:ea typeface="Arial"/>
                <a:cs typeface="Arial"/>
              </a:defRPr>
            </a:defPPr>
            <a:lvl1pPr>
              <a:defRPr sz="3300" b="1">
                <a:solidFill>
                  <a:srgbClr val="182431"/>
                </a:solidFill>
                <a:latin typeface="Arial"/>
                <a:ea typeface="Arial"/>
                <a:cs typeface="Arial"/>
              </a:defRPr>
            </a:lvl1pPr>
            <a:lvl2pPr>
              <a:defRPr sz="3300" b="1">
                <a:solidFill>
                  <a:srgbClr val="182431"/>
                </a:solidFill>
                <a:latin typeface="Arial"/>
                <a:ea typeface="Arial"/>
                <a:cs typeface="Arial"/>
              </a:defRPr>
            </a:lvl2pPr>
            <a:lvl3pPr>
              <a:defRPr sz="3300" b="1">
                <a:solidFill>
                  <a:srgbClr val="182431"/>
                </a:solidFill>
                <a:latin typeface="Arial"/>
                <a:ea typeface="Arial"/>
                <a:cs typeface="Arial"/>
              </a:defRPr>
            </a:lvl3pPr>
            <a:lvl4pPr>
              <a:defRPr sz="3300" b="1">
                <a:solidFill>
                  <a:srgbClr val="182431"/>
                </a:solidFill>
                <a:latin typeface="Arial"/>
                <a:ea typeface="Arial"/>
                <a:cs typeface="Arial"/>
              </a:defRPr>
            </a:lvl4pPr>
            <a:lvl5pPr>
              <a:defRPr sz="3300" b="1">
                <a:solidFill>
                  <a:srgbClr val="182431"/>
                </a:solidFill>
                <a:latin typeface="Arial"/>
                <a:ea typeface="Arial"/>
                <a:cs typeface="Arial"/>
              </a:defRPr>
            </a:lvl5pPr>
            <a:lvl6pPr>
              <a:defRPr sz="3300" b="1">
                <a:solidFill>
                  <a:srgbClr val="182431"/>
                </a:solidFill>
                <a:latin typeface="Arial"/>
                <a:ea typeface="Arial"/>
                <a:cs typeface="Arial"/>
              </a:defRPr>
            </a:lvl6pPr>
            <a:lvl7pPr>
              <a:defRPr sz="3300" b="1">
                <a:solidFill>
                  <a:srgbClr val="182431"/>
                </a:solidFill>
                <a:latin typeface="Arial"/>
                <a:ea typeface="Arial"/>
                <a:cs typeface="Arial"/>
              </a:defRPr>
            </a:lvl7pPr>
            <a:lvl8pPr>
              <a:defRPr sz="3300" b="1">
                <a:solidFill>
                  <a:srgbClr val="182431"/>
                </a:solidFill>
                <a:latin typeface="Arial"/>
                <a:ea typeface="Arial"/>
                <a:cs typeface="Arial"/>
              </a:defRPr>
            </a:lvl8pPr>
            <a:lvl9pPr>
              <a:defRPr sz="3300" b="1">
                <a:solidFill>
                  <a:srgbClr val="182431"/>
                </a:solidFill>
                <a:latin typeface="Arial"/>
                <a:ea typeface="Arial"/>
                <a:cs typeface="Arial"/>
              </a:defRPr>
            </a:lvl9pPr>
          </a:lstStyle>
          <a:p xmlns:a="http://schemas.openxmlformats.org/drawingml/2006/main">
            <a:pPr>
              <a:defRPr sz="3300" b="1">
                <a:solidFill>
                  <a:srgbClr val="182431"/>
                </a:solidFill>
                <a:latin typeface="Arial"/>
                <a:ea typeface="Arial"/>
                <a:cs typeface="Arial"/>
              </a:defRPr>
            </a:pPr>
            <a:r>
              <a:rPr sz="3300" b="1">
                <a:solidFill>
                  <a:srgbClr val="182431"/>
                </a:solidFill>
                <a:latin typeface="Arial"/>
                <a:ea typeface="Arial"/>
                <a:cs typeface="Arial"/>
              </a:rPr>
              <a:t>Project scope</a:t>
            </a:r>
          </a:p>
        </p:txBody>
      </p:sp>
      <p:sp>
        <p:nvSpPr>
          <p:cNvPr id="2" name="">
            <a:extLst xmlns:a="http://schemas.openxmlformats.org/drawingml/2006/main">
              <a:ext uri="{FF2B5EF4-FFF2-40B4-BE49-F238E27FC236}">
                <a16:creationId xmlns:a16="http://schemas.microsoft.com/office/drawing/2014/main" id="{97CACFD8-87EA-4982-BD70-F71A6C1389BD}"/>
              </a:ext>
            </a:extLst>
          </p:cNvPr>
          <p:cNvSpPr>
            <a:spLocks xmlns:a="http://schemas.openxmlformats.org/drawingml/2006/main" noGrp="1"/>
          </p:cNvSpPr>
          <p:nvPr/>
        </p:nvSpPr>
        <p:spPr>
          <a:xfrm xmlns:a="http://schemas.openxmlformats.org/drawingml/2006/main">
            <a:off x="685800" y="16383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Local accounts support registration, login, and logout.</a:t>
            </a:r>
          </a:p>
        </p:txBody>
      </p:sp>
      <p:sp>
        <p:nvSpPr>
          <p:cNvPr id="3" name="">
            <a:extLst xmlns:a="http://schemas.openxmlformats.org/drawingml/2006/main">
              <a:ext uri="{FF2B5EF4-FFF2-40B4-BE49-F238E27FC236}">
                <a16:creationId xmlns:a16="http://schemas.microsoft.com/office/drawing/2014/main" id="{14BCAE3C-6C7C-4A04-A88F-270DD2035805}"/>
              </a:ext>
            </a:extLst>
          </p:cNvPr>
          <p:cNvSpPr>
            <a:spLocks xmlns:a="http://schemas.openxmlformats.org/drawingml/2006/main" noGrp="1"/>
          </p:cNvSpPr>
          <p:nvPr/>
        </p:nvSpPr>
        <p:spPr>
          <a:xfrm xmlns:a="http://schemas.openxmlformats.org/drawingml/2006/main">
            <a:off x="685800" y="250507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Users manage tasks they create or receive.</a:t>
            </a:r>
          </a:p>
        </p:txBody>
      </p:sp>
      <p:sp>
        <p:nvSpPr>
          <p:cNvPr id="4" name="">
            <a:extLst xmlns:a="http://schemas.openxmlformats.org/drawingml/2006/main">
              <a:ext uri="{FF2B5EF4-FFF2-40B4-BE49-F238E27FC236}">
                <a16:creationId xmlns:a16="http://schemas.microsoft.com/office/drawing/2014/main" id="{BECDC0B7-9408-46C6-9955-935306B57E69}"/>
              </a:ext>
            </a:extLst>
          </p:cNvPr>
          <p:cNvSpPr>
            <a:spLocks xmlns:a="http://schemas.openxmlformats.org/drawingml/2006/main" noGrp="1"/>
          </p:cNvSpPr>
          <p:nvPr/>
        </p:nvSpPr>
        <p:spPr>
          <a:xfrm xmlns:a="http://schemas.openxmlformats.org/drawingml/2006/main">
            <a:off x="685800" y="3371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Creators control editing, deletion, and assignment.</a:t>
            </a:r>
          </a:p>
        </p:txBody>
      </p:sp>
      <p:sp>
        <p:nvSpPr>
          <p:cNvPr id="5" name="">
            <a:extLst xmlns:a="http://schemas.openxmlformats.org/drawingml/2006/main">
              <a:ext uri="{FF2B5EF4-FFF2-40B4-BE49-F238E27FC236}">
                <a16:creationId xmlns:a16="http://schemas.microsoft.com/office/drawing/2014/main" id="{F9A17F88-AF3C-48D0-A7B7-CB48C1BFADB4}"/>
              </a:ext>
            </a:extLst>
          </p:cNvPr>
          <p:cNvSpPr>
            <a:spLocks xmlns:a="http://schemas.openxmlformats.org/drawingml/2006/main" noGrp="1"/>
          </p:cNvSpPr>
          <p:nvPr/>
        </p:nvSpPr>
        <p:spPr>
          <a:xfrm xmlns:a="http://schemas.openxmlformats.org/drawingml/2006/main">
            <a:off x="685800" y="42386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Due dates and priority levels are the selected extra feature.</a:t>
            </a:r>
          </a:p>
        </p:txBody>
      </p:sp>
    </p:spTree>
    <p:extLst>
      <p:ext uri="{BB962C8B-B14F-4D97-AF65-F5344CB8AC3E}">
        <p14:creationId xmlns:p14="http://schemas.microsoft.com/office/powerpoint/2010/main" val="85365886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
            <a:extLst xmlns:a="http://schemas.openxmlformats.org/drawingml/2006/main">
              <a:ext uri="{FF2B5EF4-FFF2-40B4-BE49-F238E27FC236}">
                <a16:creationId xmlns:a16="http://schemas.microsoft.com/office/drawing/2014/main" id="{5B9F5C0F-545E-464B-8569-C0DF8DBA5E49}"/>
              </a:ext>
            </a:extLst>
          </p:cNvPr>
          <p:cNvSpPr>
            <a:spLocks xmlns:a="http://schemas.openxmlformats.org/drawingml/2006/main" noGrp="1"/>
          </p:cNvSpPr>
          <p:nvPr/>
        </p:nvSpPr>
        <p:spPr>
          <a:xfrm xmlns:a="http://schemas.openxmlformats.org/drawingml/2006/main">
            <a:off x="609600" y="4191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2431"/>
                </a:solidFill>
                <a:latin typeface="Arial"/>
                <a:ea typeface="Arial"/>
                <a:cs typeface="Arial"/>
              </a:defRPr>
            </a:defPPr>
            <a:lvl1pPr>
              <a:defRPr sz="3300" b="1">
                <a:solidFill>
                  <a:srgbClr val="182431"/>
                </a:solidFill>
                <a:latin typeface="Arial"/>
                <a:ea typeface="Arial"/>
                <a:cs typeface="Arial"/>
              </a:defRPr>
            </a:lvl1pPr>
            <a:lvl2pPr>
              <a:defRPr sz="3300" b="1">
                <a:solidFill>
                  <a:srgbClr val="182431"/>
                </a:solidFill>
                <a:latin typeface="Arial"/>
                <a:ea typeface="Arial"/>
                <a:cs typeface="Arial"/>
              </a:defRPr>
            </a:lvl2pPr>
            <a:lvl3pPr>
              <a:defRPr sz="3300" b="1">
                <a:solidFill>
                  <a:srgbClr val="182431"/>
                </a:solidFill>
                <a:latin typeface="Arial"/>
                <a:ea typeface="Arial"/>
                <a:cs typeface="Arial"/>
              </a:defRPr>
            </a:lvl3pPr>
            <a:lvl4pPr>
              <a:defRPr sz="3300" b="1">
                <a:solidFill>
                  <a:srgbClr val="182431"/>
                </a:solidFill>
                <a:latin typeface="Arial"/>
                <a:ea typeface="Arial"/>
                <a:cs typeface="Arial"/>
              </a:defRPr>
            </a:lvl4pPr>
            <a:lvl5pPr>
              <a:defRPr sz="3300" b="1">
                <a:solidFill>
                  <a:srgbClr val="182431"/>
                </a:solidFill>
                <a:latin typeface="Arial"/>
                <a:ea typeface="Arial"/>
                <a:cs typeface="Arial"/>
              </a:defRPr>
            </a:lvl5pPr>
            <a:lvl6pPr>
              <a:defRPr sz="3300" b="1">
                <a:solidFill>
                  <a:srgbClr val="182431"/>
                </a:solidFill>
                <a:latin typeface="Arial"/>
                <a:ea typeface="Arial"/>
                <a:cs typeface="Arial"/>
              </a:defRPr>
            </a:lvl6pPr>
            <a:lvl7pPr>
              <a:defRPr sz="3300" b="1">
                <a:solidFill>
                  <a:srgbClr val="182431"/>
                </a:solidFill>
                <a:latin typeface="Arial"/>
                <a:ea typeface="Arial"/>
                <a:cs typeface="Arial"/>
              </a:defRPr>
            </a:lvl7pPr>
            <a:lvl8pPr>
              <a:defRPr sz="3300" b="1">
                <a:solidFill>
                  <a:srgbClr val="182431"/>
                </a:solidFill>
                <a:latin typeface="Arial"/>
                <a:ea typeface="Arial"/>
                <a:cs typeface="Arial"/>
              </a:defRPr>
            </a:lvl8pPr>
            <a:lvl9pPr>
              <a:defRPr sz="3300" b="1">
                <a:solidFill>
                  <a:srgbClr val="182431"/>
                </a:solidFill>
                <a:latin typeface="Arial"/>
                <a:ea typeface="Arial"/>
                <a:cs typeface="Arial"/>
              </a:defRPr>
            </a:lvl9pPr>
          </a:lstStyle>
          <a:p xmlns:a="http://schemas.openxmlformats.org/drawingml/2006/main">
            <a:pPr>
              <a:defRPr sz="3300" b="1">
                <a:solidFill>
                  <a:srgbClr val="182431"/>
                </a:solidFill>
                <a:latin typeface="Arial"/>
                <a:ea typeface="Arial"/>
                <a:cs typeface="Arial"/>
              </a:defRPr>
            </a:pPr>
            <a:r>
              <a:rPr sz="3300" b="1">
                <a:solidFill>
                  <a:srgbClr val="182431"/>
                </a:solidFill>
                <a:latin typeface="Arial"/>
                <a:ea typeface="Arial"/>
                <a:cs typeface="Arial"/>
              </a:rPr>
              <a:t>MVC architecture</a:t>
            </a:r>
          </a:p>
        </p:txBody>
      </p:sp>
      <p:pic>
        <p:nvPicPr>
          <p:cNvPr id="2" name="">
            <a:extLst xmlns:a="http://schemas.openxmlformats.org/drawingml/2006/main">
              <a:ext uri="{FF2B5EF4-FFF2-40B4-BE49-F238E27FC236}">
                <a16:creationId xmlns:a16="http://schemas.microsoft.com/office/drawing/2014/main" id="{D49FAD74-6233-4C34-BEAF-62C27F669127}"/>
              </a:ext>
            </a:extLst>
          </p:cNvPr>
          <p:cNvPicPr>
            <a:picLocks xmlns:a="http://schemas.openxmlformats.org/drawingml/2006/main" noChangeAspect="1"/>
          </p:cNvPicPr>
          <p:nvPr/>
        </p:nvPicPr>
        <p:blipFill>
          <a:blip xmlns:r="http://schemas.openxmlformats.org/officeDocument/2006/relationships" xmlns:a="http://schemas.openxmlformats.org/drawingml/2006/main" r:embed="R140fe1d62fe64ec7"/>
          <a:stretch xmlns:a="http://schemas.openxmlformats.org/drawingml/2006/main"/>
        </p:blipFill>
        <p:spPr>
          <a:xfrm xmlns:a="http://schemas.openxmlformats.org/drawingml/2006/main">
            <a:off x="381000" y="1643063"/>
            <a:ext cx="11430000" cy="4619625"/>
          </a:xfrm>
          <a:prstGeom xmlns:a="http://schemas.openxmlformats.org/drawingml/2006/main" prst="rect">
            <a:avLst/>
          </a:prstGeom>
        </p:spPr>
      </p:pic>
    </p:spTree>
    <p:extLst>
      <p:ext uri="{BB962C8B-B14F-4D97-AF65-F5344CB8AC3E}">
        <p14:creationId xmlns:p14="http://schemas.microsoft.com/office/powerpoint/2010/main" val="4307854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
            <a:extLst xmlns:a="http://schemas.openxmlformats.org/drawingml/2006/main">
              <a:ext uri="{FF2B5EF4-FFF2-40B4-BE49-F238E27FC236}">
                <a16:creationId xmlns:a16="http://schemas.microsoft.com/office/drawing/2014/main" id="{0E99777D-2D4A-4D68-ABA2-630E02EE3D32}"/>
              </a:ext>
            </a:extLst>
          </p:cNvPr>
          <p:cNvSpPr>
            <a:spLocks xmlns:a="http://schemas.openxmlformats.org/drawingml/2006/main" noGrp="1"/>
          </p:cNvSpPr>
          <p:nvPr/>
        </p:nvSpPr>
        <p:spPr>
          <a:xfrm xmlns:a="http://schemas.openxmlformats.org/drawingml/2006/main">
            <a:off x="609600" y="4191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2431"/>
                </a:solidFill>
                <a:latin typeface="Arial"/>
                <a:ea typeface="Arial"/>
                <a:cs typeface="Arial"/>
              </a:defRPr>
            </a:defPPr>
            <a:lvl1pPr>
              <a:defRPr sz="3300" b="1">
                <a:solidFill>
                  <a:srgbClr val="182431"/>
                </a:solidFill>
                <a:latin typeface="Arial"/>
                <a:ea typeface="Arial"/>
                <a:cs typeface="Arial"/>
              </a:defRPr>
            </a:lvl1pPr>
            <a:lvl2pPr>
              <a:defRPr sz="3300" b="1">
                <a:solidFill>
                  <a:srgbClr val="182431"/>
                </a:solidFill>
                <a:latin typeface="Arial"/>
                <a:ea typeface="Arial"/>
                <a:cs typeface="Arial"/>
              </a:defRPr>
            </a:lvl2pPr>
            <a:lvl3pPr>
              <a:defRPr sz="3300" b="1">
                <a:solidFill>
                  <a:srgbClr val="182431"/>
                </a:solidFill>
                <a:latin typeface="Arial"/>
                <a:ea typeface="Arial"/>
                <a:cs typeface="Arial"/>
              </a:defRPr>
            </a:lvl3pPr>
            <a:lvl4pPr>
              <a:defRPr sz="3300" b="1">
                <a:solidFill>
                  <a:srgbClr val="182431"/>
                </a:solidFill>
                <a:latin typeface="Arial"/>
                <a:ea typeface="Arial"/>
                <a:cs typeface="Arial"/>
              </a:defRPr>
            </a:lvl4pPr>
            <a:lvl5pPr>
              <a:defRPr sz="3300" b="1">
                <a:solidFill>
                  <a:srgbClr val="182431"/>
                </a:solidFill>
                <a:latin typeface="Arial"/>
                <a:ea typeface="Arial"/>
                <a:cs typeface="Arial"/>
              </a:defRPr>
            </a:lvl5pPr>
            <a:lvl6pPr>
              <a:defRPr sz="3300" b="1">
                <a:solidFill>
                  <a:srgbClr val="182431"/>
                </a:solidFill>
                <a:latin typeface="Arial"/>
                <a:ea typeface="Arial"/>
                <a:cs typeface="Arial"/>
              </a:defRPr>
            </a:lvl6pPr>
            <a:lvl7pPr>
              <a:defRPr sz="3300" b="1">
                <a:solidFill>
                  <a:srgbClr val="182431"/>
                </a:solidFill>
                <a:latin typeface="Arial"/>
                <a:ea typeface="Arial"/>
                <a:cs typeface="Arial"/>
              </a:defRPr>
            </a:lvl7pPr>
            <a:lvl8pPr>
              <a:defRPr sz="3300" b="1">
                <a:solidFill>
                  <a:srgbClr val="182431"/>
                </a:solidFill>
                <a:latin typeface="Arial"/>
                <a:ea typeface="Arial"/>
                <a:cs typeface="Arial"/>
              </a:defRPr>
            </a:lvl8pPr>
            <a:lvl9pPr>
              <a:defRPr sz="3300" b="1">
                <a:solidFill>
                  <a:srgbClr val="182431"/>
                </a:solidFill>
                <a:latin typeface="Arial"/>
                <a:ea typeface="Arial"/>
                <a:cs typeface="Arial"/>
              </a:defRPr>
            </a:lvl9pPr>
          </a:lstStyle>
          <a:p xmlns:a="http://schemas.openxmlformats.org/drawingml/2006/main">
            <a:pPr>
              <a:defRPr sz="3300" b="1">
                <a:solidFill>
                  <a:srgbClr val="182431"/>
                </a:solidFill>
                <a:latin typeface="Arial"/>
                <a:ea typeface="Arial"/>
                <a:cs typeface="Arial"/>
              </a:defRPr>
            </a:pPr>
            <a:r>
              <a:rPr sz="3300" b="1">
                <a:solidFill>
                  <a:srgbClr val="182431"/>
                </a:solidFill>
                <a:latin typeface="Arial"/>
                <a:ea typeface="Arial"/>
                <a:cs typeface="Arial"/>
              </a:rPr>
              <a:t>Local SQLite persistence</a:t>
            </a:r>
          </a:p>
        </p:txBody>
      </p:sp>
      <p:pic>
        <p:nvPicPr>
          <p:cNvPr id="2" name="">
            <a:extLst xmlns:a="http://schemas.openxmlformats.org/drawingml/2006/main">
              <a:ext uri="{FF2B5EF4-FFF2-40B4-BE49-F238E27FC236}">
                <a16:creationId xmlns:a16="http://schemas.microsoft.com/office/drawing/2014/main" id="{1BF9D330-FFFC-4344-897D-73DD07311BF0}"/>
              </a:ext>
            </a:extLst>
          </p:cNvPr>
          <p:cNvPicPr>
            <a:picLocks xmlns:a="http://schemas.openxmlformats.org/drawingml/2006/main" noChangeAspect="1"/>
          </p:cNvPicPr>
          <p:nvPr/>
        </p:nvPicPr>
        <p:blipFill>
          <a:blip xmlns:r="http://schemas.openxmlformats.org/officeDocument/2006/relationships" xmlns:a="http://schemas.openxmlformats.org/drawingml/2006/main" r:embed="R86988d9804ee45a2"/>
          <a:stretch xmlns:a="http://schemas.openxmlformats.org/drawingml/2006/main"/>
        </p:blipFill>
        <p:spPr>
          <a:xfrm xmlns:a="http://schemas.openxmlformats.org/drawingml/2006/main">
            <a:off x="1038478" y="1571625"/>
            <a:ext cx="10115044" cy="4762500"/>
          </a:xfrm>
          <a:prstGeom xmlns:a="http://schemas.openxmlformats.org/drawingml/2006/main" prst="rect">
            <a:avLst/>
          </a:prstGeom>
        </p:spPr>
      </p:pic>
    </p:spTree>
    <p:extLst>
      <p:ext uri="{BB962C8B-B14F-4D97-AF65-F5344CB8AC3E}">
        <p14:creationId xmlns:p14="http://schemas.microsoft.com/office/powerpoint/2010/main" val="18055077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A9E8460-F773-4582-80DC-A409D22E99EF}"/>
              </a:ext>
            </a:extLst>
          </p:cNvPr>
          <p:cNvSpPr>
            <a:spLocks xmlns:a="http://schemas.openxmlformats.org/drawingml/2006/main" noGrp="1"/>
          </p:cNvSpPr>
          <p:nvPr/>
        </p:nvSpPr>
        <p:spPr>
          <a:xfrm xmlns:a="http://schemas.openxmlformats.org/drawingml/2006/main">
            <a:off x="609600" y="4191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2431"/>
                </a:solidFill>
                <a:latin typeface="Arial"/>
                <a:ea typeface="Arial"/>
                <a:cs typeface="Arial"/>
              </a:defRPr>
            </a:defPPr>
            <a:lvl1pPr>
              <a:defRPr sz="3300" b="1">
                <a:solidFill>
                  <a:srgbClr val="182431"/>
                </a:solidFill>
                <a:latin typeface="Arial"/>
                <a:ea typeface="Arial"/>
                <a:cs typeface="Arial"/>
              </a:defRPr>
            </a:lvl1pPr>
            <a:lvl2pPr>
              <a:defRPr sz="3300" b="1">
                <a:solidFill>
                  <a:srgbClr val="182431"/>
                </a:solidFill>
                <a:latin typeface="Arial"/>
                <a:ea typeface="Arial"/>
                <a:cs typeface="Arial"/>
              </a:defRPr>
            </a:lvl2pPr>
            <a:lvl3pPr>
              <a:defRPr sz="3300" b="1">
                <a:solidFill>
                  <a:srgbClr val="182431"/>
                </a:solidFill>
                <a:latin typeface="Arial"/>
                <a:ea typeface="Arial"/>
                <a:cs typeface="Arial"/>
              </a:defRPr>
            </a:lvl3pPr>
            <a:lvl4pPr>
              <a:defRPr sz="3300" b="1">
                <a:solidFill>
                  <a:srgbClr val="182431"/>
                </a:solidFill>
                <a:latin typeface="Arial"/>
                <a:ea typeface="Arial"/>
                <a:cs typeface="Arial"/>
              </a:defRPr>
            </a:lvl4pPr>
            <a:lvl5pPr>
              <a:defRPr sz="3300" b="1">
                <a:solidFill>
                  <a:srgbClr val="182431"/>
                </a:solidFill>
                <a:latin typeface="Arial"/>
                <a:ea typeface="Arial"/>
                <a:cs typeface="Arial"/>
              </a:defRPr>
            </a:lvl5pPr>
            <a:lvl6pPr>
              <a:defRPr sz="3300" b="1">
                <a:solidFill>
                  <a:srgbClr val="182431"/>
                </a:solidFill>
                <a:latin typeface="Arial"/>
                <a:ea typeface="Arial"/>
                <a:cs typeface="Arial"/>
              </a:defRPr>
            </a:lvl6pPr>
            <a:lvl7pPr>
              <a:defRPr sz="3300" b="1">
                <a:solidFill>
                  <a:srgbClr val="182431"/>
                </a:solidFill>
                <a:latin typeface="Arial"/>
                <a:ea typeface="Arial"/>
                <a:cs typeface="Arial"/>
              </a:defRPr>
            </a:lvl7pPr>
            <a:lvl8pPr>
              <a:defRPr sz="3300" b="1">
                <a:solidFill>
                  <a:srgbClr val="182431"/>
                </a:solidFill>
                <a:latin typeface="Arial"/>
                <a:ea typeface="Arial"/>
                <a:cs typeface="Arial"/>
              </a:defRPr>
            </a:lvl8pPr>
            <a:lvl9pPr>
              <a:defRPr sz="3300" b="1">
                <a:solidFill>
                  <a:srgbClr val="182431"/>
                </a:solidFill>
                <a:latin typeface="Arial"/>
                <a:ea typeface="Arial"/>
                <a:cs typeface="Arial"/>
              </a:defRPr>
            </a:lvl9pPr>
          </a:lstStyle>
          <a:p xmlns:a="http://schemas.openxmlformats.org/drawingml/2006/main">
            <a:pPr>
              <a:defRPr sz="3300" b="1">
                <a:solidFill>
                  <a:srgbClr val="182431"/>
                </a:solidFill>
                <a:latin typeface="Arial"/>
                <a:ea typeface="Arial"/>
                <a:cs typeface="Arial"/>
              </a:defRPr>
            </a:pPr>
            <a:r>
              <a:rPr sz="3300" b="1">
                <a:solidFill>
                  <a:srgbClr val="182431"/>
                </a:solidFill>
                <a:latin typeface="Arial"/>
                <a:ea typeface="Arial"/>
                <a:cs typeface="Arial"/>
              </a:rPr>
              <a:t>Task permissions</a:t>
            </a:r>
          </a:p>
        </p:txBody>
      </p:sp>
      <p:sp>
        <p:nvSpPr>
          <p:cNvPr id="2" name="">
            <a:extLst xmlns:a="http://schemas.openxmlformats.org/drawingml/2006/main">
              <a:ext uri="{FF2B5EF4-FFF2-40B4-BE49-F238E27FC236}">
                <a16:creationId xmlns:a16="http://schemas.microsoft.com/office/drawing/2014/main" id="{73A37EB1-0833-49B6-8763-EAB1511E5803}"/>
              </a:ext>
            </a:extLst>
          </p:cNvPr>
          <p:cNvSpPr>
            <a:spLocks xmlns:a="http://schemas.openxmlformats.org/drawingml/2006/main" noGrp="1"/>
          </p:cNvSpPr>
          <p:nvPr/>
        </p:nvSpPr>
        <p:spPr>
          <a:xfrm xmlns:a="http://schemas.openxmlformats.org/drawingml/2006/main">
            <a:off x="685800" y="16383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Creator: edit, delete, assign, and remove assignment.</a:t>
            </a:r>
          </a:p>
        </p:txBody>
      </p:sp>
      <p:sp>
        <p:nvSpPr>
          <p:cNvPr id="3" name="">
            <a:extLst xmlns:a="http://schemas.openxmlformats.org/drawingml/2006/main">
              <a:ext uri="{FF2B5EF4-FFF2-40B4-BE49-F238E27FC236}">
                <a16:creationId xmlns:a16="http://schemas.microsoft.com/office/drawing/2014/main" id="{D92B57A8-C445-4EE7-933C-9393D5204D78}"/>
              </a:ext>
            </a:extLst>
          </p:cNvPr>
          <p:cNvSpPr>
            <a:spLocks xmlns:a="http://schemas.openxmlformats.org/drawingml/2006/main" noGrp="1"/>
          </p:cNvSpPr>
          <p:nvPr/>
        </p:nvSpPr>
        <p:spPr>
          <a:xfrm xmlns:a="http://schemas.openxmlformats.org/drawingml/2006/main">
            <a:off x="685800" y="250507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Creator or assignee: complete and reopen a task.</a:t>
            </a:r>
          </a:p>
        </p:txBody>
      </p:sp>
      <p:sp>
        <p:nvSpPr>
          <p:cNvPr id="4" name="">
            <a:extLst xmlns:a="http://schemas.openxmlformats.org/drawingml/2006/main">
              <a:ext uri="{FF2B5EF4-FFF2-40B4-BE49-F238E27FC236}">
                <a16:creationId xmlns:a16="http://schemas.microsoft.com/office/drawing/2014/main" id="{EC3FFE48-3170-4A01-BEA9-7D2CFFDA2094}"/>
              </a:ext>
            </a:extLst>
          </p:cNvPr>
          <p:cNvSpPr>
            <a:spLocks xmlns:a="http://schemas.openxmlformats.org/drawingml/2006/main" noGrp="1"/>
          </p:cNvSpPr>
          <p:nvPr/>
        </p:nvSpPr>
        <p:spPr>
          <a:xfrm xmlns:a="http://schemas.openxmlformats.org/drawingml/2006/main">
            <a:off x="685800" y="3371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Unrelated account: task excluded from its dashboard.</a:t>
            </a:r>
          </a:p>
        </p:txBody>
      </p:sp>
      <p:sp>
        <p:nvSpPr>
          <p:cNvPr id="5" name="">
            <a:extLst xmlns:a="http://schemas.openxmlformats.org/drawingml/2006/main">
              <a:ext uri="{FF2B5EF4-FFF2-40B4-BE49-F238E27FC236}">
                <a16:creationId xmlns:a16="http://schemas.microsoft.com/office/drawing/2014/main" id="{6084504E-79B2-47AA-86F1-955FE0F29AF9}"/>
              </a:ext>
            </a:extLst>
          </p:cNvPr>
          <p:cNvSpPr>
            <a:spLocks xmlns:a="http://schemas.openxmlformats.org/drawingml/2006/main" noGrp="1"/>
          </p:cNvSpPr>
          <p:nvPr/>
        </p:nvSpPr>
        <p:spPr>
          <a:xfrm xmlns:a="http://schemas.openxmlformats.org/drawingml/2006/main">
            <a:off x="685800" y="42386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Logged-out account: controller rejects task operations.</a:t>
            </a:r>
          </a:p>
        </p:txBody>
      </p:sp>
    </p:spTree>
    <p:extLst>
      <p:ext uri="{BB962C8B-B14F-4D97-AF65-F5344CB8AC3E}">
        <p14:creationId xmlns:p14="http://schemas.microsoft.com/office/powerpoint/2010/main" val="951933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3F1A661-EFA0-4021-B789-2170926D66A4}"/>
              </a:ext>
            </a:extLst>
          </p:cNvPr>
          <p:cNvSpPr>
            <a:spLocks xmlns:a="http://schemas.openxmlformats.org/drawingml/2006/main" noGrp="1"/>
          </p:cNvSpPr>
          <p:nvPr/>
        </p:nvSpPr>
        <p:spPr>
          <a:xfrm xmlns:a="http://schemas.openxmlformats.org/drawingml/2006/main">
            <a:off x="609600" y="4191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2431"/>
                </a:solidFill>
                <a:latin typeface="Arial"/>
                <a:ea typeface="Arial"/>
                <a:cs typeface="Arial"/>
              </a:defRPr>
            </a:defPPr>
            <a:lvl1pPr>
              <a:defRPr sz="3300" b="1">
                <a:solidFill>
                  <a:srgbClr val="182431"/>
                </a:solidFill>
                <a:latin typeface="Arial"/>
                <a:ea typeface="Arial"/>
                <a:cs typeface="Arial"/>
              </a:defRPr>
            </a:lvl1pPr>
            <a:lvl2pPr>
              <a:defRPr sz="3300" b="1">
                <a:solidFill>
                  <a:srgbClr val="182431"/>
                </a:solidFill>
                <a:latin typeface="Arial"/>
                <a:ea typeface="Arial"/>
                <a:cs typeface="Arial"/>
              </a:defRPr>
            </a:lvl2pPr>
            <a:lvl3pPr>
              <a:defRPr sz="3300" b="1">
                <a:solidFill>
                  <a:srgbClr val="182431"/>
                </a:solidFill>
                <a:latin typeface="Arial"/>
                <a:ea typeface="Arial"/>
                <a:cs typeface="Arial"/>
              </a:defRPr>
            </a:lvl3pPr>
            <a:lvl4pPr>
              <a:defRPr sz="3300" b="1">
                <a:solidFill>
                  <a:srgbClr val="182431"/>
                </a:solidFill>
                <a:latin typeface="Arial"/>
                <a:ea typeface="Arial"/>
                <a:cs typeface="Arial"/>
              </a:defRPr>
            </a:lvl4pPr>
            <a:lvl5pPr>
              <a:defRPr sz="3300" b="1">
                <a:solidFill>
                  <a:srgbClr val="182431"/>
                </a:solidFill>
                <a:latin typeface="Arial"/>
                <a:ea typeface="Arial"/>
                <a:cs typeface="Arial"/>
              </a:defRPr>
            </a:lvl5pPr>
            <a:lvl6pPr>
              <a:defRPr sz="3300" b="1">
                <a:solidFill>
                  <a:srgbClr val="182431"/>
                </a:solidFill>
                <a:latin typeface="Arial"/>
                <a:ea typeface="Arial"/>
                <a:cs typeface="Arial"/>
              </a:defRPr>
            </a:lvl6pPr>
            <a:lvl7pPr>
              <a:defRPr sz="3300" b="1">
                <a:solidFill>
                  <a:srgbClr val="182431"/>
                </a:solidFill>
                <a:latin typeface="Arial"/>
                <a:ea typeface="Arial"/>
                <a:cs typeface="Arial"/>
              </a:defRPr>
            </a:lvl7pPr>
            <a:lvl8pPr>
              <a:defRPr sz="3300" b="1">
                <a:solidFill>
                  <a:srgbClr val="182431"/>
                </a:solidFill>
                <a:latin typeface="Arial"/>
                <a:ea typeface="Arial"/>
                <a:cs typeface="Arial"/>
              </a:defRPr>
            </a:lvl8pPr>
            <a:lvl9pPr>
              <a:defRPr sz="3300" b="1">
                <a:solidFill>
                  <a:srgbClr val="182431"/>
                </a:solidFill>
                <a:latin typeface="Arial"/>
                <a:ea typeface="Arial"/>
                <a:cs typeface="Arial"/>
              </a:defRPr>
            </a:lvl9pPr>
          </a:lstStyle>
          <a:p xmlns:a="http://schemas.openxmlformats.org/drawingml/2006/main">
            <a:pPr>
              <a:defRPr sz="3300" b="1">
                <a:solidFill>
                  <a:srgbClr val="182431"/>
                </a:solidFill>
                <a:latin typeface="Arial"/>
                <a:ea typeface="Arial"/>
                <a:cs typeface="Arial"/>
              </a:defRPr>
            </a:pPr>
            <a:r>
              <a:rPr sz="3300" b="1">
                <a:solidFill>
                  <a:srgbClr val="182431"/>
                </a:solidFill>
                <a:latin typeface="Arial"/>
                <a:ea typeface="Arial"/>
                <a:cs typeface="Arial"/>
              </a:rPr>
              <a:t>Verification results</a:t>
            </a:r>
          </a:p>
        </p:txBody>
      </p:sp>
      <p:sp>
        <p:nvSpPr>
          <p:cNvPr id="2" name="">
            <a:extLst xmlns:a="http://schemas.openxmlformats.org/drawingml/2006/main">
              <a:ext uri="{FF2B5EF4-FFF2-40B4-BE49-F238E27FC236}">
                <a16:creationId xmlns:a16="http://schemas.microsoft.com/office/drawing/2014/main" id="{A155DCDD-0476-42DA-86DB-8FB0BB30C099}"/>
              </a:ext>
            </a:extLst>
          </p:cNvPr>
          <p:cNvSpPr>
            <a:spLocks xmlns:a="http://schemas.openxmlformats.org/drawingml/2006/main" noGrp="1"/>
          </p:cNvSpPr>
          <p:nvPr/>
        </p:nvSpPr>
        <p:spPr>
          <a:xfrm xmlns:a="http://schemas.openxmlformats.org/drawingml/2006/main">
            <a:off x="685800" y="16383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28 of 28 JUnit 5 tests passed in Eclipse.</a:t>
            </a:r>
          </a:p>
        </p:txBody>
      </p:sp>
      <p:sp>
        <p:nvSpPr>
          <p:cNvPr id="3" name="">
            <a:extLst xmlns:a="http://schemas.openxmlformats.org/drawingml/2006/main">
              <a:ext uri="{FF2B5EF4-FFF2-40B4-BE49-F238E27FC236}">
                <a16:creationId xmlns:a16="http://schemas.microsoft.com/office/drawing/2014/main" id="{93B6CED1-324B-473A-9928-4728233FF1BA}"/>
              </a:ext>
            </a:extLst>
          </p:cNvPr>
          <p:cNvSpPr>
            <a:spLocks xmlns:a="http://schemas.openxmlformats.org/drawingml/2006/main" noGrp="1"/>
          </p:cNvSpPr>
          <p:nvPr/>
        </p:nvSpPr>
        <p:spPr>
          <a:xfrm xmlns:a="http://schemas.openxmlformats.org/drawingml/2006/main">
            <a:off x="685800" y="250507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0 errors and 0 failures, elapsed time 0.444 seconds.</a:t>
            </a:r>
          </a:p>
        </p:txBody>
      </p:sp>
      <p:sp>
        <p:nvSpPr>
          <p:cNvPr id="4" name="">
            <a:extLst xmlns:a="http://schemas.openxmlformats.org/drawingml/2006/main">
              <a:ext uri="{FF2B5EF4-FFF2-40B4-BE49-F238E27FC236}">
                <a16:creationId xmlns:a16="http://schemas.microsoft.com/office/drawing/2014/main" id="{5C5C2A0E-256E-4122-B8A2-A79F4220710C}"/>
              </a:ext>
            </a:extLst>
          </p:cNvPr>
          <p:cNvSpPr>
            <a:spLocks xmlns:a="http://schemas.openxmlformats.org/drawingml/2006/main" noGrp="1"/>
          </p:cNvSpPr>
          <p:nvPr/>
        </p:nvSpPr>
        <p:spPr>
          <a:xfrm xmlns:a="http://schemas.openxmlformats.org/drawingml/2006/main">
            <a:off x="685800" y="3371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Java 11 compilation completed without diagnostics.</a:t>
            </a:r>
          </a:p>
        </p:txBody>
      </p:sp>
      <p:sp>
        <p:nvSpPr>
          <p:cNvPr id="5" name="">
            <a:extLst xmlns:a="http://schemas.openxmlformats.org/drawingml/2006/main">
              <a:ext uri="{FF2B5EF4-FFF2-40B4-BE49-F238E27FC236}">
                <a16:creationId xmlns:a16="http://schemas.microsoft.com/office/drawing/2014/main" id="{5400C733-0598-4F95-9FEF-76E8A9895977}"/>
              </a:ext>
            </a:extLst>
          </p:cNvPr>
          <p:cNvSpPr>
            <a:spLocks xmlns:a="http://schemas.openxmlformats.org/drawingml/2006/main" noGrp="1"/>
          </p:cNvSpPr>
          <p:nvPr/>
        </p:nvSpPr>
        <p:spPr>
          <a:xfrm xmlns:a="http://schemas.openxmlformats.org/drawingml/2006/main">
            <a:off x="685800" y="42386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10 earlier manual checks remain recorded separately.</a:t>
            </a:r>
          </a:p>
        </p:txBody>
      </p:sp>
    </p:spTree>
    <p:extLst>
      <p:ext uri="{BB962C8B-B14F-4D97-AF65-F5344CB8AC3E}">
        <p14:creationId xmlns:p14="http://schemas.microsoft.com/office/powerpoint/2010/main" val="38934430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95D3F09-D1CF-4192-91B1-3918DF589CCE}"/>
              </a:ext>
            </a:extLst>
          </p:cNvPr>
          <p:cNvSpPr>
            <a:spLocks xmlns:a="http://schemas.openxmlformats.org/drawingml/2006/main" noGrp="1"/>
          </p:cNvSpPr>
          <p:nvPr/>
        </p:nvSpPr>
        <p:spPr>
          <a:xfrm xmlns:a="http://schemas.openxmlformats.org/drawingml/2006/main">
            <a:off x="609600" y="4191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2431"/>
                </a:solidFill>
                <a:latin typeface="Arial"/>
                <a:ea typeface="Arial"/>
                <a:cs typeface="Arial"/>
              </a:defRPr>
            </a:defPPr>
            <a:lvl1pPr>
              <a:defRPr sz="3300" b="1">
                <a:solidFill>
                  <a:srgbClr val="182431"/>
                </a:solidFill>
                <a:latin typeface="Arial"/>
                <a:ea typeface="Arial"/>
                <a:cs typeface="Arial"/>
              </a:defRPr>
            </a:lvl1pPr>
            <a:lvl2pPr>
              <a:defRPr sz="3300" b="1">
                <a:solidFill>
                  <a:srgbClr val="182431"/>
                </a:solidFill>
                <a:latin typeface="Arial"/>
                <a:ea typeface="Arial"/>
                <a:cs typeface="Arial"/>
              </a:defRPr>
            </a:lvl2pPr>
            <a:lvl3pPr>
              <a:defRPr sz="3300" b="1">
                <a:solidFill>
                  <a:srgbClr val="182431"/>
                </a:solidFill>
                <a:latin typeface="Arial"/>
                <a:ea typeface="Arial"/>
                <a:cs typeface="Arial"/>
              </a:defRPr>
            </a:lvl3pPr>
            <a:lvl4pPr>
              <a:defRPr sz="3300" b="1">
                <a:solidFill>
                  <a:srgbClr val="182431"/>
                </a:solidFill>
                <a:latin typeface="Arial"/>
                <a:ea typeface="Arial"/>
                <a:cs typeface="Arial"/>
              </a:defRPr>
            </a:lvl4pPr>
            <a:lvl5pPr>
              <a:defRPr sz="3300" b="1">
                <a:solidFill>
                  <a:srgbClr val="182431"/>
                </a:solidFill>
                <a:latin typeface="Arial"/>
                <a:ea typeface="Arial"/>
                <a:cs typeface="Arial"/>
              </a:defRPr>
            </a:lvl5pPr>
            <a:lvl6pPr>
              <a:defRPr sz="3300" b="1">
                <a:solidFill>
                  <a:srgbClr val="182431"/>
                </a:solidFill>
                <a:latin typeface="Arial"/>
                <a:ea typeface="Arial"/>
                <a:cs typeface="Arial"/>
              </a:defRPr>
            </a:lvl6pPr>
            <a:lvl7pPr>
              <a:defRPr sz="3300" b="1">
                <a:solidFill>
                  <a:srgbClr val="182431"/>
                </a:solidFill>
                <a:latin typeface="Arial"/>
                <a:ea typeface="Arial"/>
                <a:cs typeface="Arial"/>
              </a:defRPr>
            </a:lvl7pPr>
            <a:lvl8pPr>
              <a:defRPr sz="3300" b="1">
                <a:solidFill>
                  <a:srgbClr val="182431"/>
                </a:solidFill>
                <a:latin typeface="Arial"/>
                <a:ea typeface="Arial"/>
                <a:cs typeface="Arial"/>
              </a:defRPr>
            </a:lvl8pPr>
            <a:lvl9pPr>
              <a:defRPr sz="3300" b="1">
                <a:solidFill>
                  <a:srgbClr val="182431"/>
                </a:solidFill>
                <a:latin typeface="Arial"/>
                <a:ea typeface="Arial"/>
                <a:cs typeface="Arial"/>
              </a:defRPr>
            </a:lvl9pPr>
          </a:lstStyle>
          <a:p xmlns:a="http://schemas.openxmlformats.org/drawingml/2006/main">
            <a:pPr>
              <a:defRPr sz="3300" b="1">
                <a:solidFill>
                  <a:srgbClr val="182431"/>
                </a:solidFill>
                <a:latin typeface="Arial"/>
                <a:ea typeface="Arial"/>
                <a:cs typeface="Arial"/>
              </a:defRPr>
            </a:pPr>
            <a:r>
              <a:rPr sz="3300" b="1">
                <a:solidFill>
                  <a:srgbClr val="182431"/>
                </a:solidFill>
                <a:latin typeface="Arial"/>
                <a:ea typeface="Arial"/>
                <a:cs typeface="Arial"/>
              </a:rPr>
              <a:t>Logout regression</a:t>
            </a:r>
          </a:p>
        </p:txBody>
      </p:sp>
      <p:sp>
        <p:nvSpPr>
          <p:cNvPr id="2" name="">
            <a:extLst xmlns:a="http://schemas.openxmlformats.org/drawingml/2006/main">
              <a:ext uri="{FF2B5EF4-FFF2-40B4-BE49-F238E27FC236}">
                <a16:creationId xmlns:a16="http://schemas.microsoft.com/office/drawing/2014/main" id="{1B90ABF8-66FD-4073-BCEF-F966E6605FB7}"/>
              </a:ext>
            </a:extLst>
          </p:cNvPr>
          <p:cNvSpPr>
            <a:spLocks xmlns:a="http://schemas.openxmlformats.org/drawingml/2006/main" noGrp="1"/>
          </p:cNvSpPr>
          <p:nvPr/>
        </p:nvSpPr>
        <p:spPr>
          <a:xfrm xmlns:a="http://schemas.openxmlformats.org/drawingml/2006/main">
            <a:off x="685800" y="16383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Issue: task editor windows remained after logout.</a:t>
            </a:r>
          </a:p>
        </p:txBody>
      </p:sp>
      <p:sp>
        <p:nvSpPr>
          <p:cNvPr id="3" name="">
            <a:extLst xmlns:a="http://schemas.openxmlformats.org/drawingml/2006/main">
              <a:ext uri="{FF2B5EF4-FFF2-40B4-BE49-F238E27FC236}">
                <a16:creationId xmlns:a16="http://schemas.microsoft.com/office/drawing/2014/main" id="{BC01A01F-993B-4858-A711-57AC3C6DD6D3}"/>
              </a:ext>
            </a:extLst>
          </p:cNvPr>
          <p:cNvSpPr>
            <a:spLocks xmlns:a="http://schemas.openxmlformats.org/drawingml/2006/main" noGrp="1"/>
          </p:cNvSpPr>
          <p:nvPr/>
        </p:nvSpPr>
        <p:spPr>
          <a:xfrm xmlns:a="http://schemas.openxmlformats.org/drawingml/2006/main">
            <a:off x="685800" y="250507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The dashboard now tracks every editor it opens.</a:t>
            </a:r>
          </a:p>
        </p:txBody>
      </p:sp>
      <p:sp>
        <p:nvSpPr>
          <p:cNvPr id="4" name="">
            <a:extLst xmlns:a="http://schemas.openxmlformats.org/drawingml/2006/main">
              <a:ext uri="{FF2B5EF4-FFF2-40B4-BE49-F238E27FC236}">
                <a16:creationId xmlns:a16="http://schemas.microsoft.com/office/drawing/2014/main" id="{5D7A500E-1893-4B1A-8140-1CF550672BEC}"/>
              </a:ext>
            </a:extLst>
          </p:cNvPr>
          <p:cNvSpPr>
            <a:spLocks xmlns:a="http://schemas.openxmlformats.org/drawingml/2006/main" noGrp="1"/>
          </p:cNvSpPr>
          <p:nvPr/>
        </p:nvSpPr>
        <p:spPr>
          <a:xfrm xmlns:a="http://schemas.openxmlformats.org/drawingml/2006/main">
            <a:off x="685800" y="3371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Disposing the dashboard closes its remaining editors.</a:t>
            </a:r>
          </a:p>
        </p:txBody>
      </p:sp>
      <p:sp>
        <p:nvSpPr>
          <p:cNvPr id="5" name="">
            <a:extLst xmlns:a="http://schemas.openxmlformats.org/drawingml/2006/main">
              <a:ext uri="{FF2B5EF4-FFF2-40B4-BE49-F238E27FC236}">
                <a16:creationId xmlns:a16="http://schemas.microsoft.com/office/drawing/2014/main" id="{734CBC7E-4844-41C9-B08A-D0DEE6812284}"/>
              </a:ext>
            </a:extLst>
          </p:cNvPr>
          <p:cNvSpPr>
            <a:spLocks xmlns:a="http://schemas.openxmlformats.org/drawingml/2006/main" noGrp="1"/>
          </p:cNvSpPr>
          <p:nvPr/>
        </p:nvSpPr>
        <p:spPr>
          <a:xfrm xmlns:a="http://schemas.openxmlformats.org/drawingml/2006/main">
            <a:off x="685800" y="42386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M10 records the user’s earlier manual verification.</a:t>
            </a:r>
          </a:p>
        </p:txBody>
      </p:sp>
    </p:spTree>
    <p:extLst>
      <p:ext uri="{BB962C8B-B14F-4D97-AF65-F5344CB8AC3E}">
        <p14:creationId xmlns:p14="http://schemas.microsoft.com/office/powerpoint/2010/main" val="71837835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51D72BB-D65E-4425-8F33-F5D0AB737358}"/>
              </a:ext>
            </a:extLst>
          </p:cNvPr>
          <p:cNvSpPr>
            <a:spLocks xmlns:a="http://schemas.openxmlformats.org/drawingml/2006/main" noGrp="1"/>
          </p:cNvSpPr>
          <p:nvPr/>
        </p:nvSpPr>
        <p:spPr>
          <a:xfrm xmlns:a="http://schemas.openxmlformats.org/drawingml/2006/main">
            <a:off x="609600" y="4191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2431"/>
                </a:solidFill>
                <a:latin typeface="Arial"/>
                <a:ea typeface="Arial"/>
                <a:cs typeface="Arial"/>
              </a:defRPr>
            </a:defPPr>
            <a:lvl1pPr>
              <a:defRPr sz="3300" b="1">
                <a:solidFill>
                  <a:srgbClr val="182431"/>
                </a:solidFill>
                <a:latin typeface="Arial"/>
                <a:ea typeface="Arial"/>
                <a:cs typeface="Arial"/>
              </a:defRPr>
            </a:lvl1pPr>
            <a:lvl2pPr>
              <a:defRPr sz="3300" b="1">
                <a:solidFill>
                  <a:srgbClr val="182431"/>
                </a:solidFill>
                <a:latin typeface="Arial"/>
                <a:ea typeface="Arial"/>
                <a:cs typeface="Arial"/>
              </a:defRPr>
            </a:lvl2pPr>
            <a:lvl3pPr>
              <a:defRPr sz="3300" b="1">
                <a:solidFill>
                  <a:srgbClr val="182431"/>
                </a:solidFill>
                <a:latin typeface="Arial"/>
                <a:ea typeface="Arial"/>
                <a:cs typeface="Arial"/>
              </a:defRPr>
            </a:lvl3pPr>
            <a:lvl4pPr>
              <a:defRPr sz="3300" b="1">
                <a:solidFill>
                  <a:srgbClr val="182431"/>
                </a:solidFill>
                <a:latin typeface="Arial"/>
                <a:ea typeface="Arial"/>
                <a:cs typeface="Arial"/>
              </a:defRPr>
            </a:lvl4pPr>
            <a:lvl5pPr>
              <a:defRPr sz="3300" b="1">
                <a:solidFill>
                  <a:srgbClr val="182431"/>
                </a:solidFill>
                <a:latin typeface="Arial"/>
                <a:ea typeface="Arial"/>
                <a:cs typeface="Arial"/>
              </a:defRPr>
            </a:lvl5pPr>
            <a:lvl6pPr>
              <a:defRPr sz="3300" b="1">
                <a:solidFill>
                  <a:srgbClr val="182431"/>
                </a:solidFill>
                <a:latin typeface="Arial"/>
                <a:ea typeface="Arial"/>
                <a:cs typeface="Arial"/>
              </a:defRPr>
            </a:lvl6pPr>
            <a:lvl7pPr>
              <a:defRPr sz="3300" b="1">
                <a:solidFill>
                  <a:srgbClr val="182431"/>
                </a:solidFill>
                <a:latin typeface="Arial"/>
                <a:ea typeface="Arial"/>
                <a:cs typeface="Arial"/>
              </a:defRPr>
            </a:lvl7pPr>
            <a:lvl8pPr>
              <a:defRPr sz="3300" b="1">
                <a:solidFill>
                  <a:srgbClr val="182431"/>
                </a:solidFill>
                <a:latin typeface="Arial"/>
                <a:ea typeface="Arial"/>
                <a:cs typeface="Arial"/>
              </a:defRPr>
            </a:lvl8pPr>
            <a:lvl9pPr>
              <a:defRPr sz="3300" b="1">
                <a:solidFill>
                  <a:srgbClr val="182431"/>
                </a:solidFill>
                <a:latin typeface="Arial"/>
                <a:ea typeface="Arial"/>
                <a:cs typeface="Arial"/>
              </a:defRPr>
            </a:lvl9pPr>
          </a:lstStyle>
          <a:p xmlns:a="http://schemas.openxmlformats.org/drawingml/2006/main">
            <a:pPr>
              <a:defRPr sz="3300" b="1">
                <a:solidFill>
                  <a:srgbClr val="182431"/>
                </a:solidFill>
                <a:latin typeface="Arial"/>
                <a:ea typeface="Arial"/>
                <a:cs typeface="Arial"/>
              </a:defRPr>
            </a:pPr>
            <a:r>
              <a:rPr sz="3300" b="1">
                <a:solidFill>
                  <a:srgbClr val="182431"/>
                </a:solidFill>
                <a:latin typeface="Arial"/>
                <a:ea typeface="Arial"/>
                <a:cs typeface="Arial"/>
              </a:rPr>
              <a:t>Live demonstration</a:t>
            </a:r>
          </a:p>
        </p:txBody>
      </p:sp>
      <p:sp>
        <p:nvSpPr>
          <p:cNvPr id="2" name="">
            <a:extLst xmlns:a="http://schemas.openxmlformats.org/drawingml/2006/main">
              <a:ext uri="{FF2B5EF4-FFF2-40B4-BE49-F238E27FC236}">
                <a16:creationId xmlns:a16="http://schemas.microsoft.com/office/drawing/2014/main" id="{9363A808-9328-4DB8-97EF-A30E50A7380A}"/>
              </a:ext>
            </a:extLst>
          </p:cNvPr>
          <p:cNvSpPr>
            <a:spLocks xmlns:a="http://schemas.openxmlformats.org/drawingml/2006/main" noGrp="1"/>
          </p:cNvSpPr>
          <p:nvPr/>
        </p:nvSpPr>
        <p:spPr>
          <a:xfrm xmlns:a="http://schemas.openxmlformats.org/drawingml/2006/main">
            <a:off x="685800" y="16383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Create a task with a due date and HIGH priority.</a:t>
            </a:r>
          </a:p>
        </p:txBody>
      </p:sp>
      <p:sp>
        <p:nvSpPr>
          <p:cNvPr id="3" name="">
            <a:extLst xmlns:a="http://schemas.openxmlformats.org/drawingml/2006/main">
              <a:ext uri="{FF2B5EF4-FFF2-40B4-BE49-F238E27FC236}">
                <a16:creationId xmlns:a16="http://schemas.microsoft.com/office/drawing/2014/main" id="{46AC298B-C65B-4F4A-840D-11798AD3EF81}"/>
              </a:ext>
            </a:extLst>
          </p:cNvPr>
          <p:cNvSpPr>
            <a:spLocks xmlns:a="http://schemas.openxmlformats.org/drawingml/2006/main" noGrp="1"/>
          </p:cNvSpPr>
          <p:nvPr/>
        </p:nvSpPr>
        <p:spPr>
          <a:xfrm xmlns:a="http://schemas.openxmlformats.org/drawingml/2006/main">
            <a:off x="685800" y="250507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Assign it to the second account and show visibility.</a:t>
            </a:r>
          </a:p>
        </p:txBody>
      </p:sp>
      <p:sp>
        <p:nvSpPr>
          <p:cNvPr id="4" name="">
            <a:extLst xmlns:a="http://schemas.openxmlformats.org/drawingml/2006/main">
              <a:ext uri="{FF2B5EF4-FFF2-40B4-BE49-F238E27FC236}">
                <a16:creationId xmlns:a16="http://schemas.microsoft.com/office/drawing/2014/main" id="{6216176B-D857-4143-ABC8-F7A3E21C2DCC}"/>
              </a:ext>
            </a:extLst>
          </p:cNvPr>
          <p:cNvSpPr>
            <a:spLocks xmlns:a="http://schemas.openxmlformats.org/drawingml/2006/main" noGrp="1"/>
          </p:cNvSpPr>
          <p:nvPr/>
        </p:nvSpPr>
        <p:spPr>
          <a:xfrm xmlns:a="http://schemas.openxmlformats.org/drawingml/2006/main">
            <a:off x="685800" y="3371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Show edit denial, completion, and reopening.</a:t>
            </a:r>
          </a:p>
        </p:txBody>
      </p:sp>
      <p:sp>
        <p:nvSpPr>
          <p:cNvPr id="5" name="">
            <a:extLst xmlns:a="http://schemas.openxmlformats.org/drawingml/2006/main">
              <a:ext uri="{FF2B5EF4-FFF2-40B4-BE49-F238E27FC236}">
                <a16:creationId xmlns:a16="http://schemas.microsoft.com/office/drawing/2014/main" id="{F20E3C9A-E854-42F6-AEE8-6CEC8214828C}"/>
              </a:ext>
            </a:extLst>
          </p:cNvPr>
          <p:cNvSpPr>
            <a:spLocks xmlns:a="http://schemas.openxmlformats.org/drawingml/2006/main" noGrp="1"/>
          </p:cNvSpPr>
          <p:nvPr/>
        </p:nvSpPr>
        <p:spPr>
          <a:xfrm xmlns:a="http://schemas.openxmlformats.org/drawingml/2006/main">
            <a:off x="685800" y="42386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Restart to show persistence, then demonstrate logout cleanup.</a:t>
            </a:r>
          </a:p>
        </p:txBody>
      </p:sp>
    </p:spTree>
    <p:extLst>
      <p:ext uri="{BB962C8B-B14F-4D97-AF65-F5344CB8AC3E}">
        <p14:creationId xmlns:p14="http://schemas.microsoft.com/office/powerpoint/2010/main" val="134198806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53EAAE3-D1CF-4242-881A-F7FE1203F676}"/>
              </a:ext>
            </a:extLst>
          </p:cNvPr>
          <p:cNvSpPr>
            <a:spLocks xmlns:a="http://schemas.openxmlformats.org/drawingml/2006/main" noGrp="1"/>
          </p:cNvSpPr>
          <p:nvPr/>
        </p:nvSpPr>
        <p:spPr>
          <a:xfrm xmlns:a="http://schemas.openxmlformats.org/drawingml/2006/main">
            <a:off x="609600" y="4191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2431"/>
                </a:solidFill>
                <a:latin typeface="Arial"/>
                <a:ea typeface="Arial"/>
                <a:cs typeface="Arial"/>
              </a:defRPr>
            </a:defPPr>
            <a:lvl1pPr>
              <a:defRPr sz="3300" b="1">
                <a:solidFill>
                  <a:srgbClr val="182431"/>
                </a:solidFill>
                <a:latin typeface="Arial"/>
                <a:ea typeface="Arial"/>
                <a:cs typeface="Arial"/>
              </a:defRPr>
            </a:lvl1pPr>
            <a:lvl2pPr>
              <a:defRPr sz="3300" b="1">
                <a:solidFill>
                  <a:srgbClr val="182431"/>
                </a:solidFill>
                <a:latin typeface="Arial"/>
                <a:ea typeface="Arial"/>
                <a:cs typeface="Arial"/>
              </a:defRPr>
            </a:lvl2pPr>
            <a:lvl3pPr>
              <a:defRPr sz="3300" b="1">
                <a:solidFill>
                  <a:srgbClr val="182431"/>
                </a:solidFill>
                <a:latin typeface="Arial"/>
                <a:ea typeface="Arial"/>
                <a:cs typeface="Arial"/>
              </a:defRPr>
            </a:lvl3pPr>
            <a:lvl4pPr>
              <a:defRPr sz="3300" b="1">
                <a:solidFill>
                  <a:srgbClr val="182431"/>
                </a:solidFill>
                <a:latin typeface="Arial"/>
                <a:ea typeface="Arial"/>
                <a:cs typeface="Arial"/>
              </a:defRPr>
            </a:lvl4pPr>
            <a:lvl5pPr>
              <a:defRPr sz="3300" b="1">
                <a:solidFill>
                  <a:srgbClr val="182431"/>
                </a:solidFill>
                <a:latin typeface="Arial"/>
                <a:ea typeface="Arial"/>
                <a:cs typeface="Arial"/>
              </a:defRPr>
            </a:lvl5pPr>
            <a:lvl6pPr>
              <a:defRPr sz="3300" b="1">
                <a:solidFill>
                  <a:srgbClr val="182431"/>
                </a:solidFill>
                <a:latin typeface="Arial"/>
                <a:ea typeface="Arial"/>
                <a:cs typeface="Arial"/>
              </a:defRPr>
            </a:lvl6pPr>
            <a:lvl7pPr>
              <a:defRPr sz="3300" b="1">
                <a:solidFill>
                  <a:srgbClr val="182431"/>
                </a:solidFill>
                <a:latin typeface="Arial"/>
                <a:ea typeface="Arial"/>
                <a:cs typeface="Arial"/>
              </a:defRPr>
            </a:lvl7pPr>
            <a:lvl8pPr>
              <a:defRPr sz="3300" b="1">
                <a:solidFill>
                  <a:srgbClr val="182431"/>
                </a:solidFill>
                <a:latin typeface="Arial"/>
                <a:ea typeface="Arial"/>
                <a:cs typeface="Arial"/>
              </a:defRPr>
            </a:lvl8pPr>
            <a:lvl9pPr>
              <a:defRPr sz="3300" b="1">
                <a:solidFill>
                  <a:srgbClr val="182431"/>
                </a:solidFill>
                <a:latin typeface="Arial"/>
                <a:ea typeface="Arial"/>
                <a:cs typeface="Arial"/>
              </a:defRPr>
            </a:lvl9pPr>
          </a:lstStyle>
          <a:p xmlns:a="http://schemas.openxmlformats.org/drawingml/2006/main">
            <a:pPr>
              <a:defRPr sz="3300" b="1">
                <a:solidFill>
                  <a:srgbClr val="182431"/>
                </a:solidFill>
                <a:latin typeface="Arial"/>
                <a:ea typeface="Arial"/>
                <a:cs typeface="Arial"/>
              </a:defRPr>
            </a:pPr>
            <a:r>
              <a:rPr sz="3300" b="1">
                <a:solidFill>
                  <a:srgbClr val="182431"/>
                </a:solidFill>
                <a:latin typeface="Arial"/>
                <a:ea typeface="Arial"/>
                <a:cs typeface="Arial"/>
              </a:rPr>
              <a:t>Contribution accountability</a:t>
            </a:r>
          </a:p>
        </p:txBody>
      </p:sp>
      <p:sp>
        <p:nvSpPr>
          <p:cNvPr id="2" name="">
            <a:extLst xmlns:a="http://schemas.openxmlformats.org/drawingml/2006/main">
              <a:ext uri="{FF2B5EF4-FFF2-40B4-BE49-F238E27FC236}">
                <a16:creationId xmlns:a16="http://schemas.microsoft.com/office/drawing/2014/main" id="{CCD7A897-BB76-4E0D-9C78-22E7C2953EDF}"/>
              </a:ext>
            </a:extLst>
          </p:cNvPr>
          <p:cNvSpPr>
            <a:spLocks xmlns:a="http://schemas.openxmlformats.org/drawingml/2006/main" noGrp="1"/>
          </p:cNvSpPr>
          <p:nvPr/>
        </p:nvSpPr>
        <p:spPr>
          <a:xfrm xmlns:a="http://schemas.openxmlformats.org/drawingml/2006/main">
            <a:off x="685800" y="16383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Amanda’s TaskController commit remains in main.</a:t>
            </a:r>
          </a:p>
        </p:txBody>
      </p:sp>
      <p:sp>
        <p:nvSpPr>
          <p:cNvPr id="3" name="">
            <a:extLst xmlns:a="http://schemas.openxmlformats.org/drawingml/2006/main">
              <a:ext uri="{FF2B5EF4-FFF2-40B4-BE49-F238E27FC236}">
                <a16:creationId xmlns:a16="http://schemas.microsoft.com/office/drawing/2014/main" id="{052CF9BC-DA25-4F91-852E-A9E07CDC31A8}"/>
              </a:ext>
            </a:extLst>
          </p:cNvPr>
          <p:cNvSpPr>
            <a:spLocks xmlns:a="http://schemas.openxmlformats.org/drawingml/2006/main" noGrp="1"/>
          </p:cNvSpPr>
          <p:nvPr/>
        </p:nvSpPr>
        <p:spPr>
          <a:xfrm xmlns:a="http://schemas.openxmlformats.org/drawingml/2006/main">
            <a:off x="685800" y="250507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Commit 63d8ae6 implements task operations and permissions.</a:t>
            </a:r>
          </a:p>
        </p:txBody>
      </p:sp>
      <p:sp>
        <p:nvSpPr>
          <p:cNvPr id="4" name="">
            <a:extLst xmlns:a="http://schemas.openxmlformats.org/drawingml/2006/main">
              <a:ext uri="{FF2B5EF4-FFF2-40B4-BE49-F238E27FC236}">
                <a16:creationId xmlns:a16="http://schemas.microsoft.com/office/drawing/2014/main" id="{1CEC5586-419B-4C4A-95CA-CBBF2628E977}"/>
              </a:ext>
            </a:extLst>
          </p:cNvPr>
          <p:cNvSpPr>
            <a:spLocks xmlns:a="http://schemas.openxmlformats.org/drawingml/2006/main" noGrp="1"/>
          </p:cNvSpPr>
          <p:nvPr/>
        </p:nvSpPr>
        <p:spPr>
          <a:xfrm xmlns:a="http://schemas.openxmlformats.org/drawingml/2006/main">
            <a:off x="685800" y="3371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Alexander’s history includes integration, UI, tests, and docs.</a:t>
            </a:r>
          </a:p>
        </p:txBody>
      </p:sp>
      <p:sp>
        <p:nvSpPr>
          <p:cNvPr id="5" name="">
            <a:extLst xmlns:a="http://schemas.openxmlformats.org/drawingml/2006/main">
              <a:ext uri="{FF2B5EF4-FFF2-40B4-BE49-F238E27FC236}">
                <a16:creationId xmlns:a16="http://schemas.microsoft.com/office/drawing/2014/main" id="{ED535308-4198-4290-A687-118545242D16}"/>
              </a:ext>
            </a:extLst>
          </p:cNvPr>
          <p:cNvSpPr>
            <a:spLocks xmlns:a="http://schemas.openxmlformats.org/drawingml/2006/main" noGrp="1"/>
          </p:cNvSpPr>
          <p:nvPr/>
        </p:nvSpPr>
        <p:spPr>
          <a:xfrm xmlns:a="http://schemas.openxmlformats.org/drawingml/2006/main">
            <a:off x="685800" y="42386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Both presenters should explain their own work.</a:t>
            </a:r>
          </a:p>
        </p:txBody>
      </p:sp>
    </p:spTree>
    <p:extLst>
      <p:ext uri="{BB962C8B-B14F-4D97-AF65-F5344CB8AC3E}">
        <p14:creationId xmlns:p14="http://schemas.microsoft.com/office/powerpoint/2010/main" val="61756173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2AA531F-C83B-436B-80EF-790E9F5972FF}"/>
              </a:ext>
            </a:extLst>
          </p:cNvPr>
          <p:cNvSpPr>
            <a:spLocks xmlns:a="http://schemas.openxmlformats.org/drawingml/2006/main" noGrp="1"/>
          </p:cNvSpPr>
          <p:nvPr/>
        </p:nvSpPr>
        <p:spPr>
          <a:xfrm xmlns:a="http://schemas.openxmlformats.org/drawingml/2006/main">
            <a:off x="609600" y="41910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82431"/>
                </a:solidFill>
                <a:latin typeface="Arial"/>
                <a:ea typeface="Arial"/>
                <a:cs typeface="Arial"/>
              </a:defRPr>
            </a:defPPr>
            <a:lvl1pPr>
              <a:defRPr sz="3300" b="1">
                <a:solidFill>
                  <a:srgbClr val="182431"/>
                </a:solidFill>
                <a:latin typeface="Arial"/>
                <a:ea typeface="Arial"/>
                <a:cs typeface="Arial"/>
              </a:defRPr>
            </a:lvl1pPr>
            <a:lvl2pPr>
              <a:defRPr sz="3300" b="1">
                <a:solidFill>
                  <a:srgbClr val="182431"/>
                </a:solidFill>
                <a:latin typeface="Arial"/>
                <a:ea typeface="Arial"/>
                <a:cs typeface="Arial"/>
              </a:defRPr>
            </a:lvl2pPr>
            <a:lvl3pPr>
              <a:defRPr sz="3300" b="1">
                <a:solidFill>
                  <a:srgbClr val="182431"/>
                </a:solidFill>
                <a:latin typeface="Arial"/>
                <a:ea typeface="Arial"/>
                <a:cs typeface="Arial"/>
              </a:defRPr>
            </a:lvl3pPr>
            <a:lvl4pPr>
              <a:defRPr sz="3300" b="1">
                <a:solidFill>
                  <a:srgbClr val="182431"/>
                </a:solidFill>
                <a:latin typeface="Arial"/>
                <a:ea typeface="Arial"/>
                <a:cs typeface="Arial"/>
              </a:defRPr>
            </a:lvl4pPr>
            <a:lvl5pPr>
              <a:defRPr sz="3300" b="1">
                <a:solidFill>
                  <a:srgbClr val="182431"/>
                </a:solidFill>
                <a:latin typeface="Arial"/>
                <a:ea typeface="Arial"/>
                <a:cs typeface="Arial"/>
              </a:defRPr>
            </a:lvl5pPr>
            <a:lvl6pPr>
              <a:defRPr sz="3300" b="1">
                <a:solidFill>
                  <a:srgbClr val="182431"/>
                </a:solidFill>
                <a:latin typeface="Arial"/>
                <a:ea typeface="Arial"/>
                <a:cs typeface="Arial"/>
              </a:defRPr>
            </a:lvl6pPr>
            <a:lvl7pPr>
              <a:defRPr sz="3300" b="1">
                <a:solidFill>
                  <a:srgbClr val="182431"/>
                </a:solidFill>
                <a:latin typeface="Arial"/>
                <a:ea typeface="Arial"/>
                <a:cs typeface="Arial"/>
              </a:defRPr>
            </a:lvl7pPr>
            <a:lvl8pPr>
              <a:defRPr sz="3300" b="1">
                <a:solidFill>
                  <a:srgbClr val="182431"/>
                </a:solidFill>
                <a:latin typeface="Arial"/>
                <a:ea typeface="Arial"/>
                <a:cs typeface="Arial"/>
              </a:defRPr>
            </a:lvl8pPr>
            <a:lvl9pPr>
              <a:defRPr sz="3300" b="1">
                <a:solidFill>
                  <a:srgbClr val="182431"/>
                </a:solidFill>
                <a:latin typeface="Arial"/>
                <a:ea typeface="Arial"/>
                <a:cs typeface="Arial"/>
              </a:defRPr>
            </a:lvl9pPr>
          </a:lstStyle>
          <a:p xmlns:a="http://schemas.openxmlformats.org/drawingml/2006/main">
            <a:pPr>
              <a:defRPr sz="3300" b="1">
                <a:solidFill>
                  <a:srgbClr val="182431"/>
                </a:solidFill>
                <a:latin typeface="Arial"/>
                <a:ea typeface="Arial"/>
                <a:cs typeface="Arial"/>
              </a:defRPr>
            </a:pPr>
            <a:r>
              <a:rPr sz="3300" b="1">
                <a:solidFill>
                  <a:srgbClr val="182431"/>
                </a:solidFill>
                <a:latin typeface="Arial"/>
                <a:ea typeface="Arial"/>
                <a:cs typeface="Arial"/>
              </a:rPr>
              <a:t>Delivery readiness</a:t>
            </a:r>
          </a:p>
        </p:txBody>
      </p:sp>
      <p:sp>
        <p:nvSpPr>
          <p:cNvPr id="2" name="">
            <a:extLst xmlns:a="http://schemas.openxmlformats.org/drawingml/2006/main">
              <a:ext uri="{FF2B5EF4-FFF2-40B4-BE49-F238E27FC236}">
                <a16:creationId xmlns:a16="http://schemas.microsoft.com/office/drawing/2014/main" id="{D6F1DCAB-A49D-4003-944B-673A2589700D}"/>
              </a:ext>
            </a:extLst>
          </p:cNvPr>
          <p:cNvSpPr>
            <a:spLocks xmlns:a="http://schemas.openxmlformats.org/drawingml/2006/main" noGrp="1"/>
          </p:cNvSpPr>
          <p:nvPr/>
        </p:nvSpPr>
        <p:spPr>
          <a:xfrm xmlns:a="http://schemas.openxmlformats.org/drawingml/2006/main">
            <a:off x="685800" y="16383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Core implementation and automated verification are ready.</a:t>
            </a:r>
          </a:p>
        </p:txBody>
      </p:sp>
      <p:sp>
        <p:nvSpPr>
          <p:cNvPr id="3" name="">
            <a:extLst xmlns:a="http://schemas.openxmlformats.org/drawingml/2006/main">
              <a:ext uri="{FF2B5EF4-FFF2-40B4-BE49-F238E27FC236}">
                <a16:creationId xmlns:a16="http://schemas.microsoft.com/office/drawing/2014/main" id="{3215362C-8194-49E8-B2AB-D557840F1EDA}"/>
              </a:ext>
            </a:extLst>
          </p:cNvPr>
          <p:cNvSpPr>
            <a:spLocks xmlns:a="http://schemas.openxmlformats.org/drawingml/2006/main" noGrp="1"/>
          </p:cNvSpPr>
          <p:nvPr/>
        </p:nvSpPr>
        <p:spPr>
          <a:xfrm xmlns:a="http://schemas.openxmlformats.org/drawingml/2006/main">
            <a:off x="685800" y="250507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Requirements, design, and testing documents are reconciled.</a:t>
            </a:r>
          </a:p>
        </p:txBody>
      </p:sp>
      <p:sp>
        <p:nvSpPr>
          <p:cNvPr id="4" name="">
            <a:extLst xmlns:a="http://schemas.openxmlformats.org/drawingml/2006/main">
              <a:ext uri="{FF2B5EF4-FFF2-40B4-BE49-F238E27FC236}">
                <a16:creationId xmlns:a16="http://schemas.microsoft.com/office/drawing/2014/main" id="{52D99BBB-17B8-4FB3-95F0-AEEB315FD529}"/>
              </a:ext>
            </a:extLst>
          </p:cNvPr>
          <p:cNvSpPr>
            <a:spLocks xmlns:a="http://schemas.openxmlformats.org/drawingml/2006/main" noGrp="1"/>
          </p:cNvSpPr>
          <p:nvPr/>
        </p:nvSpPr>
        <p:spPr>
          <a:xfrm xmlns:a="http://schemas.openxmlformats.org/drawingml/2006/main">
            <a:off x="685800" y="3371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Team review and a timed live rehearsal remain.</a:t>
            </a:r>
          </a:p>
        </p:txBody>
      </p:sp>
      <p:sp>
        <p:nvSpPr>
          <p:cNvPr id="5" name="">
            <a:extLst xmlns:a="http://schemas.openxmlformats.org/drawingml/2006/main">
              <a:ext uri="{FF2B5EF4-FFF2-40B4-BE49-F238E27FC236}">
                <a16:creationId xmlns:a16="http://schemas.microsoft.com/office/drawing/2014/main" id="{E2E64BD6-E25B-4410-BA07-4EB820B7C226}"/>
              </a:ext>
            </a:extLst>
          </p:cNvPr>
          <p:cNvSpPr>
            <a:spLocks xmlns:a="http://schemas.openxmlformats.org/drawingml/2006/main" noGrp="1"/>
          </p:cNvSpPr>
          <p:nvPr/>
        </p:nvSpPr>
        <p:spPr>
          <a:xfrm xmlns:a="http://schemas.openxmlformats.org/drawingml/2006/main">
            <a:off x="685800" y="42386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82431"/>
                </a:solidFill>
                <a:latin typeface="Arial"/>
                <a:ea typeface="Arial"/>
                <a:cs typeface="Arial"/>
              </a:defRPr>
            </a:defPPr>
            <a:lvl1pPr>
              <a:defRPr sz="2250" b="0">
                <a:solidFill>
                  <a:srgbClr val="182431"/>
                </a:solidFill>
                <a:latin typeface="Arial"/>
                <a:ea typeface="Arial"/>
                <a:cs typeface="Arial"/>
              </a:defRPr>
            </a:lvl1pPr>
            <a:lvl2pPr>
              <a:defRPr sz="2250" b="0">
                <a:solidFill>
                  <a:srgbClr val="182431"/>
                </a:solidFill>
                <a:latin typeface="Arial"/>
                <a:ea typeface="Arial"/>
                <a:cs typeface="Arial"/>
              </a:defRPr>
            </a:lvl2pPr>
            <a:lvl3pPr>
              <a:defRPr sz="2250" b="0">
                <a:solidFill>
                  <a:srgbClr val="182431"/>
                </a:solidFill>
                <a:latin typeface="Arial"/>
                <a:ea typeface="Arial"/>
                <a:cs typeface="Arial"/>
              </a:defRPr>
            </a:lvl3pPr>
            <a:lvl4pPr>
              <a:defRPr sz="2250" b="0">
                <a:solidFill>
                  <a:srgbClr val="182431"/>
                </a:solidFill>
                <a:latin typeface="Arial"/>
                <a:ea typeface="Arial"/>
                <a:cs typeface="Arial"/>
              </a:defRPr>
            </a:lvl4pPr>
            <a:lvl5pPr>
              <a:defRPr sz="2250" b="0">
                <a:solidFill>
                  <a:srgbClr val="182431"/>
                </a:solidFill>
                <a:latin typeface="Arial"/>
                <a:ea typeface="Arial"/>
                <a:cs typeface="Arial"/>
              </a:defRPr>
            </a:lvl5pPr>
            <a:lvl6pPr>
              <a:defRPr sz="2250" b="0">
                <a:solidFill>
                  <a:srgbClr val="182431"/>
                </a:solidFill>
                <a:latin typeface="Arial"/>
                <a:ea typeface="Arial"/>
                <a:cs typeface="Arial"/>
              </a:defRPr>
            </a:lvl6pPr>
            <a:lvl7pPr>
              <a:defRPr sz="2250" b="0">
                <a:solidFill>
                  <a:srgbClr val="182431"/>
                </a:solidFill>
                <a:latin typeface="Arial"/>
                <a:ea typeface="Arial"/>
                <a:cs typeface="Arial"/>
              </a:defRPr>
            </a:lvl7pPr>
            <a:lvl8pPr>
              <a:defRPr sz="2250" b="0">
                <a:solidFill>
                  <a:srgbClr val="182431"/>
                </a:solidFill>
                <a:latin typeface="Arial"/>
                <a:ea typeface="Arial"/>
                <a:cs typeface="Arial"/>
              </a:defRPr>
            </a:lvl8pPr>
            <a:lvl9pPr>
              <a:defRPr sz="2250" b="0">
                <a:solidFill>
                  <a:srgbClr val="182431"/>
                </a:solidFill>
                <a:latin typeface="Arial"/>
                <a:ea typeface="Arial"/>
                <a:cs typeface="Arial"/>
              </a:defRPr>
            </a:lvl9pPr>
          </a:lstStyle>
          <a:p xmlns:a="http://schemas.openxmlformats.org/drawingml/2006/main">
            <a:pPr>
              <a:defRPr sz="2250" b="0">
                <a:solidFill>
                  <a:srgbClr val="182431"/>
                </a:solidFill>
                <a:latin typeface="Arial"/>
                <a:ea typeface="Arial"/>
                <a:cs typeface="Arial"/>
              </a:defRPr>
            </a:pPr>
            <a:r>
              <a:rPr sz="2250" b="0">
                <a:solidFill>
                  <a:srgbClr val="182431"/>
                </a:solidFill>
                <a:latin typeface="Arial"/>
                <a:ea typeface="Arial"/>
                <a:cs typeface="Arial"/>
              </a:rPr>
              <a:t>Confirm the exact Canvas files and deadline before uploading.</a:t>
            </a:r>
          </a:p>
        </p:txBody>
      </p:sp>
    </p:spTree>
    <p:extLst>
      <p:ext uri="{BB962C8B-B14F-4D97-AF65-F5344CB8AC3E}">
        <p14:creationId xmlns:p14="http://schemas.microsoft.com/office/powerpoint/2010/main" val="17193418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2026-10-17T06:50:48.9410000Z</dcterms:created>
  <dcterms:modified xsi:type="dcterms:W3CDTF">2026-10-17T06:50:48.9410000Z</dcterms:modified>
</coreProperties>
</file>